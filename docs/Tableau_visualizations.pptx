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8630" y="907375"/>
            <a:ext cx="235712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jpg"/><Relationship Id="rId15" Type="http://schemas.openxmlformats.org/officeDocument/2006/relationships/image" Target="../media/image45.jpg"/><Relationship Id="rId16" Type="http://schemas.openxmlformats.org/officeDocument/2006/relationships/image" Target="../media/image46.jpg"/><Relationship Id="rId17" Type="http://schemas.openxmlformats.org/officeDocument/2006/relationships/image" Target="../media/image47.jp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jpg"/><Relationship Id="rId6" Type="http://schemas.openxmlformats.org/officeDocument/2006/relationships/image" Target="../media/image57.jpg"/><Relationship Id="rId7" Type="http://schemas.openxmlformats.org/officeDocument/2006/relationships/image" Target="../media/image58.jpg"/><Relationship Id="rId8" Type="http://schemas.openxmlformats.org/officeDocument/2006/relationships/image" Target="../media/image59.jpg"/><Relationship Id="rId9" Type="http://schemas.openxmlformats.org/officeDocument/2006/relationships/image" Target="../media/image60.jpg"/><Relationship Id="rId10" Type="http://schemas.openxmlformats.org/officeDocument/2006/relationships/image" Target="../media/image61.png"/><Relationship Id="rId11" Type="http://schemas.openxmlformats.org/officeDocument/2006/relationships/image" Target="../media/image62.jpg"/><Relationship Id="rId12" Type="http://schemas.openxmlformats.org/officeDocument/2006/relationships/image" Target="../media/image63.jpg"/><Relationship Id="rId13" Type="http://schemas.openxmlformats.org/officeDocument/2006/relationships/image" Target="../media/image64.jpg"/><Relationship Id="rId14" Type="http://schemas.openxmlformats.org/officeDocument/2006/relationships/image" Target="../media/image65.jpg"/><Relationship Id="rId15" Type="http://schemas.openxmlformats.org/officeDocument/2006/relationships/image" Target="../media/image66.jpg"/><Relationship Id="rId16" Type="http://schemas.openxmlformats.org/officeDocument/2006/relationships/image" Target="../media/image67.jpg"/><Relationship Id="rId17" Type="http://schemas.openxmlformats.org/officeDocument/2006/relationships/image" Target="../media/image68.jpg"/><Relationship Id="rId18" Type="http://schemas.openxmlformats.org/officeDocument/2006/relationships/image" Target="../media/image69.jpg"/><Relationship Id="rId19" Type="http://schemas.openxmlformats.org/officeDocument/2006/relationships/image" Target="../media/image70.jpg"/><Relationship Id="rId20" Type="http://schemas.openxmlformats.org/officeDocument/2006/relationships/image" Target="../media/image71.jpg"/><Relationship Id="rId21" Type="http://schemas.openxmlformats.org/officeDocument/2006/relationships/image" Target="../media/image72.jpg"/><Relationship Id="rId22" Type="http://schemas.openxmlformats.org/officeDocument/2006/relationships/image" Target="../media/image73.jpg"/><Relationship Id="rId23" Type="http://schemas.openxmlformats.org/officeDocument/2006/relationships/image" Target="../media/image74.jpg"/><Relationship Id="rId24" Type="http://schemas.openxmlformats.org/officeDocument/2006/relationships/image" Target="../media/image75.png"/><Relationship Id="rId25" Type="http://schemas.openxmlformats.org/officeDocument/2006/relationships/image" Target="../media/image76.png"/><Relationship Id="rId26" Type="http://schemas.openxmlformats.org/officeDocument/2006/relationships/image" Target="../media/image77.jpg"/><Relationship Id="rId27" Type="http://schemas.openxmlformats.org/officeDocument/2006/relationships/image" Target="../media/image78.png"/><Relationship Id="rId28" Type="http://schemas.openxmlformats.org/officeDocument/2006/relationships/image" Target="../media/image79.png"/><Relationship Id="rId29" Type="http://schemas.openxmlformats.org/officeDocument/2006/relationships/image" Target="../media/image80.png"/><Relationship Id="rId30" Type="http://schemas.openxmlformats.org/officeDocument/2006/relationships/image" Target="../media/image81.png"/><Relationship Id="rId31" Type="http://schemas.openxmlformats.org/officeDocument/2006/relationships/image" Target="../media/image82.jpg"/><Relationship Id="rId32" Type="http://schemas.openxmlformats.org/officeDocument/2006/relationships/image" Target="../media/image83.jpg"/><Relationship Id="rId33" Type="http://schemas.openxmlformats.org/officeDocument/2006/relationships/image" Target="../media/image84.jpg"/><Relationship Id="rId34" Type="http://schemas.openxmlformats.org/officeDocument/2006/relationships/image" Target="../media/image85.png"/><Relationship Id="rId35" Type="http://schemas.openxmlformats.org/officeDocument/2006/relationships/image" Target="../media/image86.jpg"/><Relationship Id="rId36" Type="http://schemas.openxmlformats.org/officeDocument/2006/relationships/image" Target="../media/image87.png"/><Relationship Id="rId37" Type="http://schemas.openxmlformats.org/officeDocument/2006/relationships/image" Target="../media/image88.png"/><Relationship Id="rId38" Type="http://schemas.openxmlformats.org/officeDocument/2006/relationships/image" Target="../media/image89.jpg"/><Relationship Id="rId39" Type="http://schemas.openxmlformats.org/officeDocument/2006/relationships/image" Target="../media/image9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22822" y="1706815"/>
            <a:ext cx="1445260" cy="0"/>
          </a:xfrm>
          <a:custGeom>
            <a:avLst/>
            <a:gdLst/>
            <a:ahLst/>
            <a:cxnLst/>
            <a:rect l="l" t="t" r="r" b="b"/>
            <a:pathLst>
              <a:path w="1445260" h="0">
                <a:moveTo>
                  <a:pt x="0" y="0"/>
                </a:moveTo>
                <a:lnTo>
                  <a:pt x="144480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3625" y="899063"/>
            <a:ext cx="10153650" cy="0"/>
          </a:xfrm>
          <a:custGeom>
            <a:avLst/>
            <a:gdLst/>
            <a:ahLst/>
            <a:cxnLst/>
            <a:rect l="l" t="t" r="r" b="b"/>
            <a:pathLst>
              <a:path w="10153650" h="0">
                <a:moveTo>
                  <a:pt x="0" y="0"/>
                </a:moveTo>
                <a:lnTo>
                  <a:pt x="1015327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38078" y="1465682"/>
            <a:ext cx="13563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707070"/>
                </a:solidFill>
                <a:latin typeface="Calibri"/>
                <a:cs typeface="Calibri"/>
              </a:rPr>
              <a:t>Rating</a:t>
            </a:r>
            <a:r>
              <a:rPr dirty="0" sz="1050" spc="125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8C8C8C"/>
                </a:solidFill>
                <a:latin typeface="Calibri"/>
                <a:cs typeface="Calibri"/>
              </a:rPr>
              <a:t>U</a:t>
            </a:r>
            <a:r>
              <a:rPr dirty="0" sz="1050">
                <a:solidFill>
                  <a:srgbClr val="828282"/>
                </a:solidFill>
                <a:latin typeface="Calibri"/>
                <a:cs typeface="Calibri"/>
              </a:rPr>
              <a:t>pgrades:</a:t>
            </a:r>
            <a:r>
              <a:rPr dirty="0" sz="1050" spc="160">
                <a:solidFill>
                  <a:srgbClr val="828282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1A"/>
                </a:solidFill>
                <a:latin typeface="Calibri"/>
                <a:cs typeface="Calibri"/>
              </a:rPr>
              <a:t>1,1Z3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64130" y="919561"/>
            <a:ext cx="139827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B9370"/>
                </a:solidFill>
                <a:latin typeface="Calibri"/>
                <a:cs typeface="Calibri"/>
              </a:rPr>
              <a:t>Total</a:t>
            </a:r>
            <a:r>
              <a:rPr dirty="0" sz="1750" spc="5">
                <a:solidFill>
                  <a:srgbClr val="6B9370"/>
                </a:solidFill>
                <a:latin typeface="Calibri"/>
                <a:cs typeface="Calibri"/>
              </a:rPr>
              <a:t> </a:t>
            </a:r>
            <a:r>
              <a:rPr dirty="0" sz="1750" spc="-10">
                <a:solidFill>
                  <a:srgbClr val="5D895E"/>
                </a:solidFill>
                <a:latin typeface="Calibri"/>
                <a:cs typeface="Calibri"/>
              </a:rPr>
              <a:t>Upgrades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0742" y="1173660"/>
            <a:ext cx="31877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20">
                <a:solidFill>
                  <a:srgbClr val="262626"/>
                </a:solidFill>
                <a:latin typeface="Courier New"/>
                <a:cs typeface="Courier New"/>
              </a:rPr>
              <a:t>999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2819" y="1134048"/>
            <a:ext cx="32131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5">
                <a:latin typeface="Calibri"/>
                <a:cs typeface="Calibri"/>
              </a:rPr>
              <a:t>124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49207" y="860670"/>
            <a:ext cx="1754505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>
                <a:solidFill>
                  <a:srgbClr val="5B7EB8"/>
                </a:solidFill>
                <a:latin typeface="Calibri"/>
                <a:cs typeface="Calibri"/>
              </a:rPr>
              <a:t>Net</a:t>
            </a:r>
            <a:r>
              <a:rPr dirty="0" sz="1700" spc="190">
                <a:solidFill>
                  <a:srgbClr val="5B7EB8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6E85A0"/>
                </a:solidFill>
                <a:latin typeface="Calibri"/>
                <a:cs typeface="Calibri"/>
              </a:rPr>
              <a:t>Rating</a:t>
            </a:r>
            <a:r>
              <a:rPr dirty="0" sz="1700" spc="235">
                <a:solidFill>
                  <a:srgbClr val="6E85A0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6B7C8C"/>
                </a:solidFill>
                <a:latin typeface="Calibri"/>
                <a:cs typeface="Calibri"/>
              </a:rPr>
              <a:t>Change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174" y="1307350"/>
            <a:ext cx="54038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70">
                <a:latin typeface="Calibri"/>
                <a:cs typeface="Calibri"/>
              </a:rPr>
              <a:t>39.21^A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16683" y="1002848"/>
            <a:ext cx="233934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>
                <a:solidFill>
                  <a:srgbClr val="F08C3F"/>
                </a:solidFill>
                <a:latin typeface="Calibri"/>
                <a:cs typeface="Calibri"/>
              </a:rPr>
              <a:t>Average</a:t>
            </a:r>
            <a:r>
              <a:rPr dirty="0" sz="1750" spc="340">
                <a:solidFill>
                  <a:srgbClr val="F08C3F"/>
                </a:solidFill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FF8928"/>
                </a:solidFill>
                <a:latin typeface="Calibri"/>
                <a:cs typeface="Calibri"/>
              </a:rPr>
              <a:t>Precision</a:t>
            </a:r>
            <a:r>
              <a:rPr dirty="0" sz="1750" spc="315">
                <a:solidFill>
                  <a:srgbClr val="FF8928"/>
                </a:solidFill>
                <a:latin typeface="Calibri"/>
                <a:cs typeface="Calibri"/>
              </a:rPr>
              <a:t> </a:t>
            </a:r>
            <a:r>
              <a:rPr dirty="0" sz="1750" spc="55">
                <a:solidFill>
                  <a:srgbClr val="D49E38"/>
                </a:solidFill>
                <a:latin typeface="Calibri"/>
                <a:cs typeface="Calibri"/>
              </a:rPr>
              <a:t>Score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296" y="1571056"/>
            <a:ext cx="337360" cy="493837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2641" y="1685902"/>
            <a:ext cx="337360" cy="482352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3314" y="1714614"/>
            <a:ext cx="337360" cy="47948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3986" y="1743325"/>
            <a:ext cx="337360" cy="47661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24658" y="1915594"/>
            <a:ext cx="337360" cy="459383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5330" y="2647736"/>
            <a:ext cx="337360" cy="386169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86003" y="2733871"/>
            <a:ext cx="337360" cy="377555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63511" y="3381316"/>
            <a:ext cx="175895" cy="1077595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80">
                <a:solidFill>
                  <a:srgbClr val="262626"/>
                </a:solidFill>
                <a:latin typeface="Arial MT"/>
                <a:cs typeface="Arial MT"/>
              </a:rPr>
              <a:t>Ratl</a:t>
            </a:r>
            <a:r>
              <a:rPr dirty="0" sz="1050" spc="-80">
                <a:solidFill>
                  <a:srgbClr val="383838"/>
                </a:solidFill>
                <a:latin typeface="Arial MT"/>
                <a:cs typeface="Arial MT"/>
              </a:rPr>
              <a:t>ng</a:t>
            </a:r>
            <a:r>
              <a:rPr dirty="0" sz="1050" spc="-5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50" spc="-140">
                <a:solidFill>
                  <a:srgbClr val="2A2A2A"/>
                </a:solidFill>
                <a:latin typeface="Arial MT"/>
                <a:cs typeface="Arial MT"/>
              </a:rPr>
              <a:t>Chenge</a:t>
            </a:r>
            <a:r>
              <a:rPr dirty="0" sz="1050" spc="-1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1050" spc="-90">
                <a:solidFill>
                  <a:srgbClr val="343434"/>
                </a:solidFill>
                <a:latin typeface="Arial MT"/>
                <a:cs typeface="Arial MT"/>
              </a:rPr>
              <a:t>Count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3824" y="777261"/>
            <a:ext cx="2563495" cy="72961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>
                <a:solidFill>
                  <a:srgbClr val="1C1C1C"/>
                </a:solidFill>
                <a:latin typeface="Arial MT"/>
                <a:cs typeface="Arial MT"/>
              </a:rPr>
              <a:t>Vendor</a:t>
            </a:r>
            <a:r>
              <a:rPr dirty="0" sz="1400" spc="22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62626"/>
                </a:solidFill>
                <a:latin typeface="Arial MT"/>
                <a:cs typeface="Arial MT"/>
              </a:rPr>
              <a:t>Rating</a:t>
            </a:r>
            <a:r>
              <a:rPr dirty="0" sz="1400" spc="17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232323"/>
                </a:solidFill>
                <a:latin typeface="Arial MT"/>
                <a:cs typeface="Arial MT"/>
              </a:rPr>
              <a:t>Changes</a:t>
            </a:r>
            <a:endParaRPr sz="1400">
              <a:latin typeface="Arial MT"/>
              <a:cs typeface="Arial MT"/>
            </a:endParaRPr>
          </a:p>
          <a:p>
            <a:pPr algn="r" marR="5080">
              <a:lnSpc>
                <a:spcPts val="1115"/>
              </a:lnSpc>
              <a:spcBef>
                <a:spcPts val="635"/>
              </a:spcBef>
            </a:pPr>
            <a:r>
              <a:rPr dirty="0" sz="950" spc="-45">
                <a:solidFill>
                  <a:srgbClr val="1C1C1C"/>
                </a:solidFill>
                <a:latin typeface="Arial MT"/>
                <a:cs typeface="Arial MT"/>
              </a:rPr>
              <a:t>Vendor</a:t>
            </a:r>
            <a:r>
              <a:rPr dirty="0" sz="950" spc="-2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363636"/>
                </a:solidFill>
                <a:latin typeface="Arial MT"/>
                <a:cs typeface="Arial MT"/>
              </a:rPr>
              <a:t>Name</a:t>
            </a:r>
            <a:endParaRPr sz="950">
              <a:latin typeface="Arial MT"/>
              <a:cs typeface="Arial MT"/>
            </a:endParaRPr>
          </a:p>
          <a:p>
            <a:pPr marL="237490">
              <a:lnSpc>
                <a:spcPts val="1235"/>
              </a:lnSpc>
            </a:pPr>
            <a:r>
              <a:rPr dirty="0" sz="1050" spc="-25">
                <a:solidFill>
                  <a:srgbClr val="898989"/>
                </a:solidFill>
                <a:latin typeface="Courier New"/>
                <a:cs typeface="Courier New"/>
              </a:rPr>
              <a:t>300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0244" y="1635518"/>
            <a:ext cx="222250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100">
                <a:solidFill>
                  <a:srgbClr val="757575"/>
                </a:solidFill>
                <a:latin typeface="Courier New"/>
                <a:cs typeface="Courier New"/>
              </a:rPr>
              <a:t>280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7790" y="1982847"/>
            <a:ext cx="21082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30">
                <a:solidFill>
                  <a:srgbClr val="707070"/>
                </a:solidFill>
                <a:latin typeface="Arial MT"/>
                <a:cs typeface="Arial MT"/>
              </a:rPr>
              <a:t>260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6499" y="2310238"/>
            <a:ext cx="233045" cy="4192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12065">
              <a:lnSpc>
                <a:spcPct val="100000"/>
              </a:lnSpc>
              <a:spcBef>
                <a:spcPts val="110"/>
              </a:spcBef>
            </a:pPr>
            <a:r>
              <a:rPr dirty="0" sz="1050" spc="-85">
                <a:solidFill>
                  <a:srgbClr val="6D6D6D"/>
                </a:solidFill>
                <a:latin typeface="Courier New"/>
                <a:cs typeface="Courier New"/>
              </a:rPr>
              <a:t>240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urier New"/>
              <a:cs typeface="Courier New"/>
            </a:endParaRPr>
          </a:p>
          <a:p>
            <a:pPr marL="18415">
              <a:lnSpc>
                <a:spcPct val="100000"/>
              </a:lnSpc>
            </a:pPr>
            <a:r>
              <a:rPr dirty="0" sz="950" spc="-25">
                <a:solidFill>
                  <a:srgbClr val="6D6D6D"/>
                </a:solidFill>
                <a:latin typeface="Consolas"/>
                <a:cs typeface="Consolas"/>
              </a:rPr>
              <a:t>220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Consolas"/>
              <a:cs typeface="Consolas"/>
            </a:endParaRPr>
          </a:p>
          <a:p>
            <a:pPr marL="20320">
              <a:lnSpc>
                <a:spcPct val="100000"/>
              </a:lnSpc>
            </a:pPr>
            <a:r>
              <a:rPr dirty="0" sz="950" spc="-25">
                <a:solidFill>
                  <a:srgbClr val="797979"/>
                </a:solidFill>
                <a:latin typeface="Calibri"/>
                <a:cs typeface="Calibri"/>
              </a:rPr>
              <a:t>200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Calibri"/>
              <a:cs typeface="Calibri"/>
            </a:endParaRPr>
          </a:p>
          <a:p>
            <a:pPr algn="r" marR="11430">
              <a:lnSpc>
                <a:spcPct val="100000"/>
              </a:lnSpc>
            </a:pPr>
            <a:r>
              <a:rPr dirty="0" sz="1050" spc="-85">
                <a:solidFill>
                  <a:srgbClr val="898989"/>
                </a:solidFill>
                <a:latin typeface="Courier New"/>
                <a:cs typeface="Courier New"/>
              </a:rPr>
              <a:t>180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</a:pPr>
            <a:r>
              <a:rPr dirty="0" sz="950" spc="-45">
                <a:solidFill>
                  <a:srgbClr val="6E6E6E"/>
                </a:solidFill>
                <a:latin typeface="Arial MT"/>
                <a:cs typeface="Arial MT"/>
              </a:rPr>
              <a:t>1G0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950">
              <a:latin typeface="Arial MT"/>
              <a:cs typeface="Arial MT"/>
            </a:endParaRPr>
          </a:p>
          <a:p>
            <a:pPr algn="r" marR="11430">
              <a:lnSpc>
                <a:spcPct val="100000"/>
              </a:lnSpc>
            </a:pPr>
            <a:r>
              <a:rPr dirty="0" sz="1050" spc="-85">
                <a:solidFill>
                  <a:srgbClr val="565656"/>
                </a:solidFill>
                <a:latin typeface="Courier New"/>
                <a:cs typeface="Courier New"/>
              </a:rPr>
              <a:t>140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urier New"/>
              <a:cs typeface="Courier New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dirty="0" sz="950" spc="-25">
                <a:solidFill>
                  <a:srgbClr val="808080"/>
                </a:solidFill>
                <a:latin typeface="Consolas"/>
                <a:cs typeface="Consolas"/>
              </a:rPr>
              <a:t>120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50">
              <a:latin typeface="Consolas"/>
              <a:cs typeface="Consolas"/>
            </a:endParaRPr>
          </a:p>
          <a:p>
            <a:pPr algn="r" marR="10795">
              <a:lnSpc>
                <a:spcPct val="100000"/>
              </a:lnSpc>
            </a:pPr>
            <a:r>
              <a:rPr dirty="0" sz="1000" spc="-50">
                <a:solidFill>
                  <a:srgbClr val="8E8E8E"/>
                </a:solidFill>
                <a:latin typeface="Courier New"/>
                <a:cs typeface="Courier New"/>
              </a:rPr>
              <a:t>100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000">
              <a:latin typeface="Courier New"/>
              <a:cs typeface="Courier New"/>
            </a:endParaRPr>
          </a:p>
          <a:p>
            <a:pPr algn="r" marR="10795">
              <a:lnSpc>
                <a:spcPct val="100000"/>
              </a:lnSpc>
            </a:pPr>
            <a:r>
              <a:rPr dirty="0" sz="1050" spc="-25">
                <a:solidFill>
                  <a:srgbClr val="6E6E6E"/>
                </a:solidFill>
                <a:latin typeface="Courier New"/>
                <a:cs typeface="Courier New"/>
              </a:rPr>
              <a:t>80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Courier New"/>
              <a:cs typeface="Courier New"/>
            </a:endParaRPr>
          </a:p>
          <a:p>
            <a:pPr algn="r" marR="10160">
              <a:lnSpc>
                <a:spcPct val="100000"/>
              </a:lnSpc>
            </a:pPr>
            <a:r>
              <a:rPr dirty="0" sz="1050" spc="-25">
                <a:solidFill>
                  <a:srgbClr val="747474"/>
                </a:solidFill>
                <a:latin typeface="Courier New"/>
                <a:cs typeface="Courier New"/>
              </a:rPr>
              <a:t>60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50">
              <a:latin typeface="Courier New"/>
              <a:cs typeface="Courier New"/>
            </a:endParaRPr>
          </a:p>
          <a:p>
            <a:pPr algn="r" marR="9525">
              <a:lnSpc>
                <a:spcPct val="100000"/>
              </a:lnSpc>
            </a:pPr>
            <a:r>
              <a:rPr dirty="0" sz="1050" spc="-25">
                <a:solidFill>
                  <a:srgbClr val="909090"/>
                </a:solidFill>
                <a:latin typeface="Courier New"/>
                <a:cs typeface="Courier New"/>
              </a:rPr>
              <a:t>40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urier New"/>
              <a:cs typeface="Courier New"/>
            </a:endParaRPr>
          </a:p>
          <a:p>
            <a:pPr marL="88265">
              <a:lnSpc>
                <a:spcPct val="100000"/>
              </a:lnSpc>
            </a:pPr>
            <a:r>
              <a:rPr dirty="0" sz="950" spc="-25">
                <a:solidFill>
                  <a:srgbClr val="909090"/>
                </a:solidFill>
                <a:latin typeface="Arial MT"/>
                <a:cs typeface="Arial MT"/>
              </a:rPr>
              <a:t>20</a:t>
            </a:r>
            <a:endParaRPr sz="9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795"/>
              </a:spcBef>
            </a:pPr>
            <a:r>
              <a:rPr dirty="0" sz="1050" spc="-50">
                <a:solidFill>
                  <a:srgbClr val="979797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06891" y="6497727"/>
            <a:ext cx="252729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20">
                <a:solidFill>
                  <a:srgbClr val="828282"/>
                </a:solidFill>
                <a:latin typeface="Arial MT"/>
                <a:cs typeface="Arial MT"/>
              </a:rPr>
              <a:t>Kroll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15543" y="6497727"/>
            <a:ext cx="199453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44295" algn="l"/>
                <a:tab pos="1754505" algn="l"/>
              </a:tabLst>
            </a:pPr>
            <a:r>
              <a:rPr dirty="0" sz="950" spc="-90">
                <a:solidFill>
                  <a:srgbClr val="777777"/>
                </a:solidFill>
                <a:latin typeface="Arial MT"/>
                <a:cs typeface="Arial MT"/>
              </a:rPr>
              <a:t>DDRS</a:t>
            </a:r>
            <a:r>
              <a:rPr dirty="0" sz="950" spc="25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7E7E"/>
                </a:solidFill>
                <a:latin typeface="Arial MT"/>
                <a:cs typeface="Arial MT"/>
              </a:rPr>
              <a:t>Moody..</a:t>
            </a:r>
            <a:r>
              <a:rPr dirty="0" sz="950" spc="33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939393"/>
                </a:solidFill>
                <a:latin typeface="Arial MT"/>
                <a:cs typeface="Arial MT"/>
              </a:rPr>
              <a:t>F</a:t>
            </a:r>
            <a:r>
              <a:rPr dirty="0" sz="950" spc="-20">
                <a:solidFill>
                  <a:srgbClr val="8C8C8C"/>
                </a:solidFill>
                <a:latin typeface="Arial MT"/>
                <a:cs typeface="Arial MT"/>
              </a:rPr>
              <a:t>itch</a:t>
            </a:r>
            <a:r>
              <a:rPr dirty="0" sz="950">
                <a:solidFill>
                  <a:srgbClr val="8C8C8C"/>
                </a:solidFill>
                <a:latin typeface="Arial MT"/>
                <a:cs typeface="Arial MT"/>
              </a:rPr>
              <a:t>	</a:t>
            </a:r>
            <a:r>
              <a:rPr dirty="0" sz="950" spc="-25">
                <a:solidFill>
                  <a:srgbClr val="606060"/>
                </a:solidFill>
                <a:latin typeface="Arial MT"/>
                <a:cs typeface="Arial MT"/>
              </a:rPr>
              <a:t>SBP</a:t>
            </a:r>
            <a:r>
              <a:rPr dirty="0" sz="950">
                <a:solidFill>
                  <a:srgbClr val="606060"/>
                </a:solidFill>
                <a:latin typeface="Arial MT"/>
                <a:cs typeface="Arial MT"/>
              </a:rPr>
              <a:t>	</a:t>
            </a:r>
            <a:r>
              <a:rPr dirty="0" sz="950" spc="-105">
                <a:solidFill>
                  <a:srgbClr val="757575"/>
                </a:solidFill>
                <a:latin typeface="Arial MT"/>
                <a:cs typeface="Arial MT"/>
              </a:rPr>
              <a:t>ICPA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72313" y="6497727"/>
            <a:ext cx="70104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05130" algn="l"/>
              </a:tabLst>
            </a:pPr>
            <a:r>
              <a:rPr dirty="0" sz="950" spc="-20">
                <a:solidFill>
                  <a:srgbClr val="565656"/>
                </a:solidFill>
                <a:latin typeface="Arial MT"/>
                <a:cs typeface="Arial MT"/>
              </a:rPr>
              <a:t>CASE</a:t>
            </a:r>
            <a:r>
              <a:rPr dirty="0" sz="950">
                <a:solidFill>
                  <a:srgbClr val="565656"/>
                </a:solidFill>
                <a:latin typeface="Arial MT"/>
                <a:cs typeface="Arial MT"/>
              </a:rPr>
              <a:t>	</a:t>
            </a:r>
            <a:r>
              <a:rPr dirty="0" sz="950" spc="-35">
                <a:solidFill>
                  <a:srgbClr val="808080"/>
                </a:solidFill>
                <a:latin typeface="Arial MT"/>
                <a:cs typeface="Arial MT"/>
              </a:rPr>
              <a:t>fviorni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47177" y="775609"/>
            <a:ext cx="794385" cy="149034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595"/>
              </a:spcBef>
            </a:pPr>
            <a:r>
              <a:rPr dirty="0" sz="950" spc="-65">
                <a:solidFill>
                  <a:srgbClr val="444444"/>
                </a:solidFill>
                <a:latin typeface="Arial MT"/>
                <a:cs typeface="Arial MT"/>
              </a:rPr>
              <a:t>Vendor</a:t>
            </a:r>
            <a:r>
              <a:rPr dirty="0" sz="95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62626"/>
                </a:solidFill>
                <a:latin typeface="Arial MT"/>
                <a:cs typeface="Arial MT"/>
              </a:rPr>
              <a:t>Name</a:t>
            </a:r>
            <a:endParaRPr sz="950">
              <a:latin typeface="Arial MT"/>
              <a:cs typeface="Arial MT"/>
            </a:endParaRPr>
          </a:p>
          <a:p>
            <a:pPr marL="156845">
              <a:lnSpc>
                <a:spcPct val="100000"/>
              </a:lnSpc>
              <a:spcBef>
                <a:spcPts val="440"/>
              </a:spcBef>
            </a:pPr>
            <a:r>
              <a:rPr dirty="0" sz="950" spc="-10">
                <a:solidFill>
                  <a:srgbClr val="595959"/>
                </a:solidFill>
                <a:latin typeface="Arial MT"/>
                <a:cs typeface="Arial MT"/>
              </a:rPr>
              <a:t>Kroll</a:t>
            </a:r>
            <a:endParaRPr sz="950">
              <a:latin typeface="Arial MT"/>
              <a:cs typeface="Arial MT"/>
            </a:endParaRPr>
          </a:p>
          <a:p>
            <a:pPr marL="155575">
              <a:lnSpc>
                <a:spcPct val="100000"/>
              </a:lnSpc>
              <a:spcBef>
                <a:spcPts val="45"/>
              </a:spcBef>
            </a:pPr>
            <a:r>
              <a:rPr dirty="0" sz="950" spc="-20">
                <a:solidFill>
                  <a:srgbClr val="3B3B3B"/>
                </a:solidFill>
                <a:latin typeface="Arial MT"/>
                <a:cs typeface="Arial MT"/>
              </a:rPr>
              <a:t>DBRS</a:t>
            </a:r>
            <a:endParaRPr sz="950">
              <a:latin typeface="Arial MT"/>
              <a:cs typeface="Arial MT"/>
            </a:endParaRPr>
          </a:p>
          <a:p>
            <a:pPr marL="156210">
              <a:lnSpc>
                <a:spcPts val="1090"/>
              </a:lnSpc>
              <a:spcBef>
                <a:spcPts val="50"/>
              </a:spcBef>
            </a:pPr>
            <a:r>
              <a:rPr dirty="0" sz="950" spc="-10">
                <a:solidFill>
                  <a:srgbClr val="494949"/>
                </a:solidFill>
                <a:latin typeface="Arial MT"/>
                <a:cs typeface="Arial MT"/>
              </a:rPr>
              <a:t>Moody's</a:t>
            </a:r>
            <a:endParaRPr sz="950">
              <a:latin typeface="Arial MT"/>
              <a:cs typeface="Arial MT"/>
            </a:endParaRPr>
          </a:p>
          <a:p>
            <a:pPr marL="159385" marR="363855" indent="-147320">
              <a:lnSpc>
                <a:spcPts val="1190"/>
              </a:lnSpc>
              <a:spcBef>
                <a:spcPts val="95"/>
              </a:spcBef>
            </a:pPr>
            <a:r>
              <a:rPr dirty="0" sz="1100">
                <a:solidFill>
                  <a:srgbClr val="E1594D"/>
                </a:solidFill>
                <a:latin typeface="Arial MT"/>
                <a:cs typeface="Arial MT"/>
              </a:rPr>
              <a:t>m</a:t>
            </a:r>
            <a:r>
              <a:rPr dirty="0" sz="1100" spc="-95">
                <a:solidFill>
                  <a:srgbClr val="E1594D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Arial MT"/>
                <a:cs typeface="Arial MT"/>
              </a:rPr>
              <a:t>ritch </a:t>
            </a:r>
            <a:r>
              <a:rPr dirty="0" sz="1000" spc="-25">
                <a:solidFill>
                  <a:srgbClr val="262626"/>
                </a:solidFill>
                <a:latin typeface="Arial MT"/>
                <a:cs typeface="Arial MT"/>
              </a:rPr>
              <a:t>SBP </a:t>
            </a:r>
            <a:r>
              <a:rPr dirty="0" sz="950" spc="-70">
                <a:solidFill>
                  <a:srgbClr val="2B2B2B"/>
                </a:solidFill>
                <a:latin typeface="Arial MT"/>
                <a:cs typeface="Arial MT"/>
              </a:rPr>
              <a:t>ICRA</a:t>
            </a:r>
            <a:r>
              <a:rPr dirty="0" sz="950" spc="50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950" spc="-160">
                <a:solidFill>
                  <a:srgbClr val="3B3B3B"/>
                </a:solidFill>
                <a:latin typeface="Arial MT"/>
                <a:cs typeface="Arial MT"/>
              </a:rPr>
              <a:t>CARE</a:t>
            </a:r>
            <a:endParaRPr sz="950">
              <a:latin typeface="Arial MT"/>
              <a:cs typeface="Arial MT"/>
            </a:endParaRPr>
          </a:p>
          <a:p>
            <a:pPr marL="156210">
              <a:lnSpc>
                <a:spcPts val="1130"/>
              </a:lnSpc>
            </a:pPr>
            <a:r>
              <a:rPr dirty="0" sz="950" spc="-10">
                <a:solidFill>
                  <a:srgbClr val="282828"/>
                </a:solidFill>
                <a:latin typeface="Arial MT"/>
                <a:cs typeface="Arial MT"/>
              </a:rPr>
              <a:t>Morningstar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0172" y="1099144"/>
            <a:ext cx="5020156" cy="601742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168963" y="727280"/>
            <a:ext cx="0" cy="118745"/>
          </a:xfrm>
          <a:custGeom>
            <a:avLst/>
            <a:gdLst/>
            <a:ahLst/>
            <a:cxnLst/>
            <a:rect l="l" t="t" r="r" b="b"/>
            <a:pathLst>
              <a:path w="0" h="118744">
                <a:moveTo>
                  <a:pt x="0" y="118320"/>
                </a:moveTo>
                <a:lnTo>
                  <a:pt x="0" y="0"/>
                </a:lnTo>
              </a:path>
            </a:pathLst>
          </a:custGeom>
          <a:ln w="8451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30767" y="298112"/>
            <a:ext cx="1640205" cy="3073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000000"/>
                </a:solidFill>
              </a:rPr>
              <a:t>Outlier</a:t>
            </a:r>
            <a:r>
              <a:rPr dirty="0" sz="1850" spc="-90">
                <a:solidFill>
                  <a:srgbClr val="000000"/>
                </a:solidFill>
              </a:rPr>
              <a:t> </a:t>
            </a:r>
            <a:r>
              <a:rPr dirty="0" sz="1850">
                <a:solidFill>
                  <a:srgbClr val="000000"/>
                </a:solidFill>
              </a:rPr>
              <a:t>%</a:t>
            </a:r>
            <a:r>
              <a:rPr dirty="0" sz="1850" spc="-20">
                <a:solidFill>
                  <a:srgbClr val="000000"/>
                </a:solidFill>
              </a:rPr>
              <a:t> Trend</a:t>
            </a:r>
            <a:endParaRPr sz="1850"/>
          </a:p>
        </p:txBody>
      </p:sp>
      <p:sp>
        <p:nvSpPr>
          <p:cNvPr id="5" name="object 5" descr=""/>
          <p:cNvSpPr txBox="1"/>
          <p:nvPr/>
        </p:nvSpPr>
        <p:spPr>
          <a:xfrm>
            <a:off x="1708273" y="1127292"/>
            <a:ext cx="412115" cy="2209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10"/>
              </a:spcBef>
            </a:pPr>
            <a:r>
              <a:rPr dirty="0" sz="1100" spc="-10">
                <a:solidFill>
                  <a:srgbClr val="5D5D5D"/>
                </a:solidFill>
                <a:latin typeface="Arial MT"/>
                <a:cs typeface="Arial MT"/>
              </a:rPr>
              <a:t>2.609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Arial MT"/>
              <a:cs typeface="Arial MT"/>
            </a:endParaRPr>
          </a:p>
          <a:p>
            <a:pPr marL="118745">
              <a:lnSpc>
                <a:spcPct val="100000"/>
              </a:lnSpc>
            </a:pPr>
            <a:r>
              <a:rPr dirty="0" sz="1200" spc="-25">
                <a:solidFill>
                  <a:srgbClr val="8C8C8C"/>
                </a:solidFill>
                <a:latin typeface="Courier New"/>
                <a:cs typeface="Courier New"/>
              </a:rPr>
              <a:t>40K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200">
              <a:latin typeface="Courier New"/>
              <a:cs typeface="Courier New"/>
            </a:endParaRPr>
          </a:p>
          <a:p>
            <a:pPr algn="r" marR="23495">
              <a:lnSpc>
                <a:spcPct val="100000"/>
              </a:lnSpc>
            </a:pPr>
            <a:r>
              <a:rPr dirty="0" sz="1200" spc="-265">
                <a:solidFill>
                  <a:srgbClr val="808080"/>
                </a:solidFill>
                <a:latin typeface="Courier New"/>
                <a:cs typeface="Courier New"/>
              </a:rPr>
              <a:t>2.205£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Courier New"/>
              <a:cs typeface="Courier New"/>
            </a:endParaRPr>
          </a:p>
          <a:p>
            <a:pPr algn="r" marR="23495">
              <a:lnSpc>
                <a:spcPct val="100000"/>
              </a:lnSpc>
            </a:pPr>
            <a:r>
              <a:rPr dirty="0" sz="1200" spc="-265">
                <a:solidFill>
                  <a:srgbClr val="808080"/>
                </a:solidFill>
                <a:latin typeface="Courier New"/>
                <a:cs typeface="Courier New"/>
              </a:rPr>
              <a:t>2.005£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Courier New"/>
              <a:cs typeface="Courier New"/>
            </a:endParaRPr>
          </a:p>
          <a:p>
            <a:pPr algn="r" marR="18415">
              <a:lnSpc>
                <a:spcPct val="100000"/>
              </a:lnSpc>
            </a:pPr>
            <a:r>
              <a:rPr dirty="0" sz="1200" spc="-20">
                <a:solidFill>
                  <a:srgbClr val="858585"/>
                </a:solidFill>
                <a:latin typeface="Courier New"/>
                <a:cs typeface="Courier New"/>
              </a:rPr>
              <a:t>805£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250" spc="-25">
                <a:solidFill>
                  <a:srgbClr val="999999"/>
                </a:solidFill>
                <a:latin typeface="Courier New"/>
                <a:cs typeface="Courier New"/>
              </a:rPr>
              <a:t>60%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64364" y="3932466"/>
            <a:ext cx="456565" cy="302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8255">
              <a:lnSpc>
                <a:spcPct val="100000"/>
              </a:lnSpc>
              <a:spcBef>
                <a:spcPts val="95"/>
              </a:spcBef>
            </a:pPr>
            <a:r>
              <a:rPr dirty="0" sz="1250" spc="-20">
                <a:solidFill>
                  <a:srgbClr val="5D5D5D"/>
                </a:solidFill>
                <a:latin typeface="Courier New"/>
                <a:cs typeface="Courier New"/>
              </a:rPr>
              <a:t>120%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Courier New"/>
              <a:cs typeface="Courier New"/>
            </a:endParaRPr>
          </a:p>
          <a:p>
            <a:pPr algn="r" marR="24765">
              <a:lnSpc>
                <a:spcPct val="100000"/>
              </a:lnSpc>
              <a:spcBef>
                <a:spcPts val="5"/>
              </a:spcBef>
            </a:pPr>
            <a:r>
              <a:rPr dirty="0" sz="1200" spc="-65">
                <a:solidFill>
                  <a:srgbClr val="696969"/>
                </a:solidFill>
                <a:latin typeface="Courier New"/>
                <a:cs typeface="Courier New"/>
              </a:rPr>
              <a:t>1.00Œ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Courier New"/>
              <a:cs typeface="Courier New"/>
            </a:endParaRPr>
          </a:p>
          <a:p>
            <a:pPr algn="r" marR="19685">
              <a:lnSpc>
                <a:spcPct val="100000"/>
              </a:lnSpc>
              <a:spcBef>
                <a:spcPts val="5"/>
              </a:spcBef>
            </a:pPr>
            <a:r>
              <a:rPr dirty="0" sz="1250" spc="-20">
                <a:solidFill>
                  <a:srgbClr val="838383"/>
                </a:solidFill>
                <a:latin typeface="Courier New"/>
                <a:cs typeface="Courier New"/>
              </a:rPr>
              <a:t>080Œ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50">
              <a:latin typeface="Courier New"/>
              <a:cs typeface="Courier New"/>
            </a:endParaRPr>
          </a:p>
          <a:p>
            <a:pPr marL="157480">
              <a:lnSpc>
                <a:spcPct val="100000"/>
              </a:lnSpc>
            </a:pPr>
            <a:r>
              <a:rPr dirty="0" sz="1250" spc="-25">
                <a:solidFill>
                  <a:srgbClr val="727272"/>
                </a:solidFill>
                <a:latin typeface="Courier New"/>
                <a:cs typeface="Courier New"/>
              </a:rPr>
              <a:t>60Œ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50">
              <a:latin typeface="Courier New"/>
              <a:cs typeface="Courier New"/>
            </a:endParaRPr>
          </a:p>
          <a:p>
            <a:pPr algn="r" marR="7620">
              <a:lnSpc>
                <a:spcPct val="100000"/>
              </a:lnSpc>
              <a:spcBef>
                <a:spcPts val="5"/>
              </a:spcBef>
            </a:pPr>
            <a:r>
              <a:rPr dirty="0" sz="1200" spc="-25">
                <a:solidFill>
                  <a:srgbClr val="797979"/>
                </a:solidFill>
                <a:latin typeface="Courier New"/>
                <a:cs typeface="Courier New"/>
              </a:rPr>
              <a:t>40}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Courier New"/>
              <a:cs typeface="Courier New"/>
            </a:endParaRPr>
          </a:p>
          <a:p>
            <a:pPr marL="170815">
              <a:lnSpc>
                <a:spcPct val="100000"/>
              </a:lnSpc>
              <a:spcBef>
                <a:spcPts val="5"/>
              </a:spcBef>
            </a:pPr>
            <a:r>
              <a:rPr dirty="0" sz="1100" spc="-20">
                <a:solidFill>
                  <a:srgbClr val="606060"/>
                </a:solidFill>
                <a:latin typeface="Calibri"/>
                <a:cs typeface="Calibri"/>
              </a:rPr>
              <a:t>209s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250" spc="-20">
                <a:solidFill>
                  <a:srgbClr val="7E7E7E"/>
                </a:solidFill>
                <a:latin typeface="Courier New"/>
                <a:cs typeface="Courier New"/>
              </a:rPr>
              <a:t>000}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250" spc="-300">
                <a:solidFill>
                  <a:srgbClr val="939393"/>
                </a:solidFill>
                <a:latin typeface="Courier New"/>
                <a:cs typeface="Courier New"/>
              </a:rPr>
              <a:t>-</a:t>
            </a:r>
            <a:r>
              <a:rPr dirty="0" sz="1250" spc="-350">
                <a:solidFill>
                  <a:srgbClr val="939393"/>
                </a:solidFill>
                <a:latin typeface="Courier New"/>
                <a:cs typeface="Courier New"/>
              </a:rPr>
              <a:t>0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52000" y="6947047"/>
            <a:ext cx="3403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0">
                <a:solidFill>
                  <a:srgbClr val="5D5D5D"/>
                </a:solidFill>
                <a:latin typeface="Courier New"/>
                <a:cs typeface="Courier New"/>
              </a:rPr>
              <a:t>2021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85258" y="659880"/>
            <a:ext cx="730885" cy="18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3D3D3D"/>
                </a:solidFill>
                <a:latin typeface="Arial MT"/>
                <a:cs typeface="Arial MT"/>
              </a:rPr>
              <a:t>Rating</a:t>
            </a:r>
            <a:r>
              <a:rPr dirty="0" sz="1050" spc="-6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62626"/>
                </a:solidFill>
                <a:latin typeface="Arial MT"/>
                <a:cs typeface="Arial MT"/>
              </a:rPr>
              <a:t>Date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77510" y="6947047"/>
            <a:ext cx="3295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20">
                <a:solidFill>
                  <a:srgbClr val="797979"/>
                </a:solidFill>
                <a:latin typeface="Courier New"/>
                <a:cs typeface="Courier New"/>
              </a:rPr>
              <a:t>2023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05232" y="6952915"/>
            <a:ext cx="3251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35">
                <a:solidFill>
                  <a:srgbClr val="494949"/>
                </a:solidFill>
                <a:latin typeface="Consolas"/>
                <a:cs typeface="Consolas"/>
              </a:rPr>
              <a:t>2025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33" y="1545887"/>
            <a:ext cx="2497347" cy="492935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28669" y="721403"/>
            <a:ext cx="2080260" cy="80200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00" spc="55">
                <a:solidFill>
                  <a:srgbClr val="262626"/>
                </a:solidFill>
                <a:latin typeface="Arial MT"/>
                <a:cs typeface="Arial MT"/>
              </a:rPr>
              <a:t>Rating</a:t>
            </a:r>
            <a:r>
              <a:rPr dirty="0" sz="1400" spc="3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212121"/>
                </a:solidFill>
                <a:latin typeface="Arial MT"/>
                <a:cs typeface="Arial MT"/>
              </a:rPr>
              <a:t>Trend</a:t>
            </a:r>
            <a:r>
              <a:rPr dirty="0" sz="14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D1D1D"/>
                </a:solidFill>
                <a:latin typeface="Arial MT"/>
                <a:cs typeface="Arial MT"/>
              </a:rPr>
              <a:t>by</a:t>
            </a:r>
            <a:r>
              <a:rPr dirty="0" sz="1400" spc="11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61616"/>
                </a:solidFill>
                <a:latin typeface="Arial MT"/>
                <a:cs typeface="Arial MT"/>
              </a:rPr>
              <a:t>Vendor</a:t>
            </a:r>
            <a:endParaRPr sz="1400">
              <a:latin typeface="Arial MT"/>
              <a:cs typeface="Arial MT"/>
            </a:endParaRPr>
          </a:p>
          <a:p>
            <a:pPr marL="1047750">
              <a:lnSpc>
                <a:spcPct val="100000"/>
              </a:lnSpc>
              <a:spcBef>
                <a:spcPts val="605"/>
              </a:spcBef>
            </a:pP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Effective</a:t>
            </a:r>
            <a:r>
              <a:rPr dirty="0" sz="10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313131"/>
                </a:solidFill>
                <a:latin typeface="Arial MT"/>
                <a:cs typeface="Arial MT"/>
              </a:rPr>
              <a:t>Start</a:t>
            </a:r>
            <a:r>
              <a:rPr dirty="0" sz="1000" spc="-7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62626"/>
                </a:solidFill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dirty="0" sz="1000" spc="-25">
                <a:solidFill>
                  <a:srgbClr val="979797"/>
                </a:solidFill>
                <a:latin typeface="Arial MT"/>
                <a:cs typeface="Arial MT"/>
              </a:rPr>
              <a:t>50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7321" y="1843541"/>
            <a:ext cx="16129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65">
                <a:solidFill>
                  <a:srgbClr val="727272"/>
                </a:solidFill>
                <a:latin typeface="Courier New"/>
                <a:cs typeface="Courier New"/>
              </a:rPr>
              <a:t>4S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7321" y="2344462"/>
            <a:ext cx="164465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60">
                <a:solidFill>
                  <a:srgbClr val="878787"/>
                </a:solidFill>
                <a:latin typeface="Courier New"/>
                <a:cs typeface="Courier New"/>
              </a:rPr>
              <a:t>40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2499" y="3879086"/>
            <a:ext cx="153035" cy="685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0"/>
              </a:spcBef>
            </a:pPr>
            <a:r>
              <a:rPr dirty="0" sz="1000" spc="-50">
                <a:solidFill>
                  <a:srgbClr val="707070"/>
                </a:solidFill>
                <a:latin typeface="Arial MT"/>
                <a:cs typeface="Arial MT"/>
              </a:rPr>
              <a:t>25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25">
                <a:solidFill>
                  <a:srgbClr val="565656"/>
                </a:solidFill>
                <a:latin typeface="Consolas"/>
                <a:cs typeface="Consolas"/>
              </a:rPr>
              <a:t>20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9211" y="6502064"/>
            <a:ext cx="202946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7675" algn="l"/>
                <a:tab pos="883285" algn="l"/>
                <a:tab pos="1318895" algn="l"/>
                <a:tab pos="1754505" algn="l"/>
              </a:tabLst>
            </a:pPr>
            <a:r>
              <a:rPr dirty="0" sz="1000" spc="-20">
                <a:solidFill>
                  <a:srgbClr val="565656"/>
                </a:solidFill>
                <a:latin typeface="Courier New"/>
                <a:cs typeface="Courier New"/>
              </a:rPr>
              <a:t>2021</a:t>
            </a:r>
            <a:r>
              <a:rPr dirty="0" sz="1000">
                <a:solidFill>
                  <a:srgbClr val="565656"/>
                </a:solidFill>
                <a:latin typeface="Courier New"/>
                <a:cs typeface="Courier New"/>
              </a:rPr>
              <a:t>	</a:t>
            </a:r>
            <a:r>
              <a:rPr dirty="0" sz="1000" spc="-20">
                <a:solidFill>
                  <a:srgbClr val="6E6E6E"/>
                </a:solidFill>
                <a:latin typeface="Courier New"/>
                <a:cs typeface="Courier New"/>
              </a:rPr>
              <a:t>2022</a:t>
            </a:r>
            <a:r>
              <a:rPr dirty="0" sz="1000">
                <a:solidFill>
                  <a:srgbClr val="6E6E6E"/>
                </a:solidFill>
                <a:latin typeface="Courier New"/>
                <a:cs typeface="Courier New"/>
              </a:rPr>
              <a:t>	</a:t>
            </a:r>
            <a:r>
              <a:rPr dirty="0" sz="1000" spc="-20">
                <a:solidFill>
                  <a:srgbClr val="565656"/>
                </a:solidFill>
                <a:latin typeface="Courier New"/>
                <a:cs typeface="Courier New"/>
              </a:rPr>
              <a:t>2023</a:t>
            </a:r>
            <a:r>
              <a:rPr dirty="0" sz="1000">
                <a:solidFill>
                  <a:srgbClr val="565656"/>
                </a:solidFill>
                <a:latin typeface="Courier New"/>
                <a:cs typeface="Courier New"/>
              </a:rPr>
              <a:t>	</a:t>
            </a:r>
            <a:r>
              <a:rPr dirty="0" sz="1000" spc="-20">
                <a:solidFill>
                  <a:srgbClr val="646464"/>
                </a:solidFill>
                <a:latin typeface="Courier New"/>
                <a:cs typeface="Courier New"/>
              </a:rPr>
              <a:t>2024</a:t>
            </a:r>
            <a:r>
              <a:rPr dirty="0" sz="1000">
                <a:solidFill>
                  <a:srgbClr val="646464"/>
                </a:solidFill>
                <a:latin typeface="Courier New"/>
                <a:cs typeface="Courier New"/>
              </a:rPr>
              <a:t>	</a:t>
            </a:r>
            <a:r>
              <a:rPr dirty="0" sz="1000" spc="-80">
                <a:solidFill>
                  <a:srgbClr val="565656"/>
                </a:solidFill>
                <a:latin typeface="Courier New"/>
                <a:cs typeface="Courier New"/>
              </a:rPr>
              <a:t>2025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49882" y="727156"/>
            <a:ext cx="742950" cy="889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655" marR="5080" indent="-103505">
              <a:lnSpc>
                <a:spcPct val="133400"/>
              </a:lnSpc>
              <a:spcBef>
                <a:spcPts val="100"/>
              </a:spcBef>
            </a:pPr>
            <a:r>
              <a:rPr dirty="0" sz="1000" spc="-85">
                <a:solidFill>
                  <a:srgbClr val="383838"/>
                </a:solidFill>
                <a:latin typeface="Arial MT"/>
                <a:cs typeface="Arial MT"/>
              </a:rPr>
              <a:t>Vendor</a:t>
            </a:r>
            <a:r>
              <a:rPr dirty="0" sz="1000" spc="4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000" spc="-110">
                <a:solidFill>
                  <a:srgbClr val="424242"/>
                </a:solidFill>
                <a:latin typeface="Arial MT"/>
                <a:cs typeface="Arial MT"/>
              </a:rPr>
              <a:t>Name</a:t>
            </a:r>
            <a:r>
              <a:rPr dirty="0" sz="1000" spc="-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595959"/>
                </a:solidFill>
                <a:latin typeface="Arial MT"/>
                <a:cs typeface="Arial MT"/>
              </a:rPr>
              <a:t>CARE</a:t>
            </a:r>
            <a:endParaRPr sz="1000">
              <a:latin typeface="Arial MT"/>
              <a:cs typeface="Arial MT"/>
            </a:endParaRPr>
          </a:p>
          <a:p>
            <a:pPr marL="157480">
              <a:lnSpc>
                <a:spcPts val="1125"/>
              </a:lnSpc>
            </a:pPr>
            <a:r>
              <a:rPr dirty="0" sz="1000" spc="-20">
                <a:solidFill>
                  <a:srgbClr val="3B3B3B"/>
                </a:solidFill>
                <a:latin typeface="Arial MT"/>
                <a:cs typeface="Arial MT"/>
              </a:rPr>
              <a:t>DBRS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dirty="0" sz="1150" spc="-45">
                <a:solidFill>
                  <a:srgbClr val="D65B54"/>
                </a:solidFill>
                <a:latin typeface="Arial MT"/>
                <a:cs typeface="Arial MT"/>
              </a:rPr>
              <a:t>m</a:t>
            </a:r>
            <a:r>
              <a:rPr dirty="0" sz="1150" spc="-105">
                <a:solidFill>
                  <a:srgbClr val="D65B54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444444"/>
                </a:solidFill>
                <a:latin typeface="Arial MT"/>
                <a:cs typeface="Arial MT"/>
              </a:rPr>
              <a:t>ritch</a:t>
            </a:r>
            <a:endParaRPr sz="1150">
              <a:latin typeface="Arial MT"/>
              <a:cs typeface="Arial MT"/>
            </a:endParaRPr>
          </a:p>
          <a:p>
            <a:pPr marL="162560">
              <a:lnSpc>
                <a:spcPts val="1185"/>
              </a:lnSpc>
            </a:pPr>
            <a:r>
              <a:rPr dirty="0" sz="1000" spc="-20">
                <a:solidFill>
                  <a:srgbClr val="2D2D2D"/>
                </a:solidFill>
                <a:latin typeface="Arial MT"/>
                <a:cs typeface="Arial MT"/>
              </a:rPr>
              <a:t>ICRA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94986" y="1739686"/>
            <a:ext cx="655320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1000" spc="-10">
                <a:solidFill>
                  <a:srgbClr val="606060"/>
                </a:solidFill>
                <a:latin typeface="Arial MT"/>
                <a:cs typeface="Arial MT"/>
              </a:rPr>
              <a:t>Moody's </a:t>
            </a:r>
            <a:r>
              <a:rPr dirty="0" sz="1000" spc="-40">
                <a:solidFill>
                  <a:srgbClr val="282828"/>
                </a:solidFill>
                <a:latin typeface="Arial MT"/>
                <a:cs typeface="Arial MT"/>
              </a:rPr>
              <a:t>Morningstar </a:t>
            </a:r>
            <a:r>
              <a:rPr dirty="0" sz="1000" spc="-25">
                <a:solidFill>
                  <a:srgbClr val="2B2B2B"/>
                </a:solidFill>
                <a:latin typeface="Arial MT"/>
                <a:cs typeface="Arial MT"/>
              </a:rPr>
              <a:t>SBP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76802" y="1578635"/>
            <a:ext cx="3850640" cy="5128895"/>
            <a:chOff x="376802" y="1578635"/>
            <a:chExt cx="3850640" cy="51288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802" y="1578635"/>
              <a:ext cx="3850225" cy="512881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066" y="2178201"/>
              <a:ext cx="180592" cy="7946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0266" y="6360717"/>
            <a:ext cx="411750" cy="4117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59435" y="1571353"/>
            <a:ext cx="22542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90">
                <a:solidFill>
                  <a:srgbClr val="757575"/>
                </a:solidFill>
                <a:latin typeface="Courier New"/>
                <a:cs typeface="Courier New"/>
              </a:rPr>
              <a:t>450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9021" y="2647683"/>
            <a:ext cx="22542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90">
                <a:solidFill>
                  <a:srgbClr val="909090"/>
                </a:solidFill>
                <a:latin typeface="Courier New"/>
                <a:cs typeface="Courier New"/>
              </a:rPr>
              <a:t>350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1968" y="3202300"/>
            <a:ext cx="350520" cy="164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2B2B2B"/>
                </a:solidFill>
                <a:latin typeface="Arial MT"/>
                <a:cs typeface="Arial MT"/>
              </a:rPr>
              <a:t>_</a:t>
            </a:r>
            <a:r>
              <a:rPr dirty="0" sz="900" spc="33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727272"/>
                </a:solidFill>
                <a:latin typeface="Arial MT"/>
                <a:cs typeface="Arial MT"/>
              </a:rPr>
              <a:t>300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755" y="3726821"/>
            <a:ext cx="212090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solidFill>
                  <a:srgbClr val="757575"/>
                </a:solidFill>
                <a:latin typeface="Arial MT"/>
                <a:cs typeface="Arial MT"/>
              </a:rPr>
              <a:t>250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0721" y="4793118"/>
            <a:ext cx="22796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85">
                <a:solidFill>
                  <a:srgbClr val="666666"/>
                </a:solidFill>
                <a:latin typeface="Courier New"/>
                <a:cs typeface="Courier New"/>
              </a:rPr>
              <a:t>150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3497" y="5327671"/>
            <a:ext cx="22796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85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16131" y="6515165"/>
            <a:ext cx="26733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25">
                <a:solidFill>
                  <a:srgbClr val="858585"/>
                </a:solidFill>
                <a:latin typeface="Arial MT"/>
                <a:cs typeface="Arial MT"/>
              </a:rPr>
              <a:t>Fitch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212816" y="1187695"/>
            <a:ext cx="708025" cy="17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50" spc="-70">
                <a:solidFill>
                  <a:srgbClr val="1A1A1A"/>
                </a:solidFill>
                <a:latin typeface="Arial MT"/>
                <a:cs typeface="Arial MT"/>
              </a:rPr>
              <a:t>Vendox</a:t>
            </a:r>
            <a:r>
              <a:rPr dirty="0" sz="950" spc="-2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950" spc="-40">
                <a:solidFill>
                  <a:srgbClr val="282828"/>
                </a:solidFill>
                <a:latin typeface="Arial MT"/>
                <a:cs typeface="Arial MT"/>
              </a:rPr>
              <a:t>Name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72508" y="6528209"/>
            <a:ext cx="72326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95">
                <a:solidFill>
                  <a:srgbClr val="696969"/>
                </a:solidFill>
                <a:latin typeface="Arial MT"/>
                <a:cs typeface="Arial MT"/>
              </a:rPr>
              <a:t>O9RS</a:t>
            </a:r>
            <a:r>
              <a:rPr dirty="0" sz="1000" spc="229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000" spc="-65">
                <a:solidFill>
                  <a:srgbClr val="747474"/>
                </a:solidFill>
                <a:latin typeface="Arial MT"/>
                <a:cs typeface="Arial MT"/>
              </a:rPr>
              <a:t>Moody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09337" y="6546267"/>
            <a:ext cx="21590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155">
                <a:solidFill>
                  <a:srgbClr val="6B6B6B"/>
                </a:solidFill>
                <a:latin typeface="Arial MT"/>
                <a:cs typeface="Arial MT"/>
              </a:rPr>
              <a:t>SBP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1683" sz="2475" spc="-157" i="1">
                <a:solidFill>
                  <a:srgbClr val="262626"/>
                </a:solidFill>
                <a:latin typeface="Arial"/>
                <a:cs typeface="Arial"/>
              </a:rPr>
              <a:t>Vendor</a:t>
            </a:r>
            <a:r>
              <a:rPr dirty="0" baseline="1683" sz="2475" spc="7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baseline="1683" sz="2475" spc="-97">
                <a:solidFill>
                  <a:srgbClr val="282828"/>
                </a:solidFill>
              </a:rPr>
              <a:t>Rating</a:t>
            </a:r>
            <a:r>
              <a:rPr dirty="0" baseline="1683" sz="2475" spc="-209">
                <a:solidFill>
                  <a:srgbClr val="282828"/>
                </a:solidFill>
              </a:rPr>
              <a:t> </a:t>
            </a:r>
            <a:r>
              <a:rPr dirty="0" baseline="3367" sz="2475" spc="-15"/>
              <a:t>Distribut</a:t>
            </a:r>
            <a:r>
              <a:rPr dirty="0" sz="1650" spc="-10"/>
              <a:t>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316380" y="922276"/>
            <a:ext cx="874394" cy="568960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464"/>
              </a:spcBef>
            </a:pPr>
            <a:r>
              <a:rPr dirty="0" sz="950" spc="-50">
                <a:solidFill>
                  <a:srgbClr val="343434"/>
                </a:solidFill>
                <a:latin typeface="Arial MT"/>
                <a:cs typeface="Arial MT"/>
              </a:rPr>
              <a:t>Standard</a:t>
            </a:r>
            <a:r>
              <a:rPr dirty="0" sz="95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D2D2D"/>
                </a:solidFill>
                <a:latin typeface="Arial MT"/>
                <a:cs typeface="Arial MT"/>
              </a:rPr>
              <a:t>Rating</a:t>
            </a:r>
            <a:endParaRPr sz="950">
              <a:latin typeface="Arial MT"/>
              <a:cs typeface="Arial MT"/>
            </a:endParaRPr>
          </a:p>
          <a:p>
            <a:pPr marL="14604" marR="570230" indent="-2540">
              <a:lnSpc>
                <a:spcPct val="100000"/>
              </a:lnSpc>
              <a:spcBef>
                <a:spcPts val="370"/>
              </a:spcBef>
            </a:pPr>
            <a:r>
              <a:rPr dirty="0" sz="1000" spc="-25">
                <a:solidFill>
                  <a:srgbClr val="525252"/>
                </a:solidFill>
                <a:latin typeface="Consolas"/>
                <a:cs typeface="Consolas"/>
              </a:rPr>
              <a:t>flA </a:t>
            </a:r>
            <a:r>
              <a:rPr dirty="0" sz="1000" spc="-20">
                <a:solidFill>
                  <a:srgbClr val="232323"/>
                </a:solidFill>
                <a:latin typeface="Consolas"/>
                <a:cs typeface="Consolas"/>
              </a:rPr>
              <a:t>##A1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265571" y="1612487"/>
            <a:ext cx="4044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8419" marR="5080" indent="-46355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F7BA77"/>
                </a:solidFill>
                <a:latin typeface="Consolas"/>
                <a:cs typeface="Consolas"/>
              </a:rPr>
              <a:t>R</a:t>
            </a:r>
            <a:r>
              <a:rPr dirty="0" sz="1000" spc="409">
                <a:solidFill>
                  <a:srgbClr val="F7BA77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484848"/>
                </a:solidFill>
                <a:latin typeface="Consolas"/>
                <a:cs typeface="Consolas"/>
              </a:rPr>
              <a:t>A2 </a:t>
            </a:r>
            <a:r>
              <a:rPr dirty="0" sz="1000" spc="-40">
                <a:solidFill>
                  <a:srgbClr val="313131"/>
                </a:solidFill>
                <a:latin typeface="Consolas"/>
                <a:cs typeface="Consolas"/>
              </a:rPr>
              <a:t>##A2+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48198" y="2072596"/>
            <a:ext cx="452755" cy="41205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61594" marR="31750" indent="4445">
              <a:lnSpc>
                <a:spcPct val="104800"/>
              </a:lnSpc>
              <a:spcBef>
                <a:spcPts val="80"/>
              </a:spcBef>
            </a:pPr>
            <a:r>
              <a:rPr dirty="0" sz="950" spc="-20">
                <a:solidFill>
                  <a:srgbClr val="2D2D2D"/>
                </a:solidFill>
                <a:latin typeface="Consolas"/>
                <a:cs typeface="Consolas"/>
              </a:rPr>
              <a:t>flA- </a:t>
            </a:r>
            <a:r>
              <a:rPr dirty="0" sz="950" spc="-20">
                <a:solidFill>
                  <a:srgbClr val="1C1C1C"/>
                </a:solidFill>
                <a:latin typeface="Consolas"/>
                <a:cs typeface="Consolas"/>
              </a:rPr>
              <a:t>##A+ </a:t>
            </a:r>
            <a:r>
              <a:rPr dirty="0" sz="950" spc="-20">
                <a:solidFill>
                  <a:srgbClr val="525252"/>
                </a:solidFill>
                <a:latin typeface="Consolas"/>
                <a:cs typeface="Consolas"/>
              </a:rPr>
              <a:t>##AA </a:t>
            </a:r>
            <a:r>
              <a:rPr dirty="0" sz="950" spc="-10">
                <a:solidFill>
                  <a:srgbClr val="232323"/>
                </a:solidFill>
                <a:latin typeface="Consolas"/>
                <a:cs typeface="Consolas"/>
              </a:rPr>
              <a:t>##AA1</a:t>
            </a:r>
            <a:endParaRPr sz="950">
              <a:latin typeface="Consolas"/>
              <a:cs typeface="Consolas"/>
            </a:endParaRPr>
          </a:p>
          <a:p>
            <a:pPr marL="46990">
              <a:lnSpc>
                <a:spcPts val="1025"/>
              </a:lnSpc>
            </a:pPr>
            <a:r>
              <a:rPr dirty="0" sz="950" spc="155">
                <a:solidFill>
                  <a:srgbClr val="2F2F2F"/>
                </a:solidFill>
                <a:latin typeface="Consolas"/>
                <a:cs typeface="Consolas"/>
              </a:rPr>
              <a:t>pgqg</a:t>
            </a:r>
            <a:endParaRPr sz="950">
              <a:latin typeface="Consolas"/>
              <a:cs typeface="Consolas"/>
            </a:endParaRPr>
          </a:p>
          <a:p>
            <a:pPr algn="r" marL="53975" marR="46990">
              <a:lnSpc>
                <a:spcPct val="100000"/>
              </a:lnSpc>
              <a:spcBef>
                <a:spcPts val="175"/>
              </a:spcBef>
            </a:pPr>
            <a:r>
              <a:rPr dirty="0" sz="1000" spc="-25">
                <a:solidFill>
                  <a:srgbClr val="444444"/>
                </a:solidFill>
                <a:latin typeface="Consolas"/>
                <a:cs typeface="Consolas"/>
              </a:rPr>
              <a:t>##AA3 </a:t>
            </a:r>
            <a:r>
              <a:rPr dirty="0" sz="1000" spc="-25">
                <a:solidFill>
                  <a:srgbClr val="333333"/>
                </a:solidFill>
                <a:latin typeface="Consolas"/>
                <a:cs typeface="Consolas"/>
              </a:rPr>
              <a:t>##AA-</a:t>
            </a:r>
            <a:endParaRPr sz="1000">
              <a:latin typeface="Consolas"/>
              <a:cs typeface="Consolas"/>
            </a:endParaRPr>
          </a:p>
          <a:p>
            <a:pPr algn="r" marR="46990">
              <a:lnSpc>
                <a:spcPts val="1190"/>
              </a:lnSpc>
            </a:pPr>
            <a:r>
              <a:rPr dirty="0" sz="1000" spc="-25">
                <a:solidFill>
                  <a:srgbClr val="232323"/>
                </a:solidFill>
                <a:latin typeface="Consolas"/>
                <a:cs typeface="Consolas"/>
              </a:rPr>
              <a:t>AA+</a:t>
            </a:r>
            <a:endParaRPr sz="1000">
              <a:latin typeface="Consolas"/>
              <a:cs typeface="Consolas"/>
            </a:endParaRPr>
          </a:p>
          <a:p>
            <a:pPr marL="48260">
              <a:lnSpc>
                <a:spcPct val="100000"/>
              </a:lnSpc>
              <a:spcBef>
                <a:spcPts val="45"/>
              </a:spcBef>
            </a:pPr>
            <a:r>
              <a:rPr dirty="0" sz="950" spc="70">
                <a:solidFill>
                  <a:srgbClr val="383838"/>
                </a:solidFill>
                <a:latin typeface="Courier New"/>
                <a:cs typeface="Courier New"/>
              </a:rPr>
              <a:t>AAAA</a:t>
            </a:r>
            <a:endParaRPr sz="950">
              <a:latin typeface="Courier New"/>
              <a:cs typeface="Courier New"/>
            </a:endParaRPr>
          </a:p>
          <a:p>
            <a:pPr marL="181610" marR="116839" indent="-126364">
              <a:lnSpc>
                <a:spcPct val="104800"/>
              </a:lnSpc>
            </a:pPr>
            <a:r>
              <a:rPr dirty="0" sz="950" spc="-270">
                <a:solidFill>
                  <a:srgbClr val="FFBAD1"/>
                </a:solidFill>
                <a:latin typeface="Courier New"/>
                <a:cs typeface="Courier New"/>
              </a:rPr>
              <a:t>+•</a:t>
            </a:r>
            <a:r>
              <a:rPr dirty="0" sz="950" spc="-145">
                <a:solidFill>
                  <a:srgbClr val="FFBAD1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525252"/>
                </a:solidFill>
                <a:latin typeface="Courier New"/>
                <a:cs typeface="Courier New"/>
              </a:rPr>
              <a:t>B </a:t>
            </a:r>
            <a:r>
              <a:rPr dirty="0" sz="950" spc="-25">
                <a:solidFill>
                  <a:srgbClr val="3F3F3F"/>
                </a:solidFill>
                <a:latin typeface="Courier New"/>
                <a:cs typeface="Courier New"/>
              </a:rPr>
              <a:t>B1 </a:t>
            </a:r>
            <a:r>
              <a:rPr dirty="0" sz="950" spc="-25">
                <a:solidFill>
                  <a:srgbClr val="646464"/>
                </a:solidFill>
                <a:latin typeface="Courier New"/>
                <a:cs typeface="Courier New"/>
              </a:rPr>
              <a:t>B2 </a:t>
            </a:r>
            <a:r>
              <a:rPr dirty="0" sz="950" spc="-25">
                <a:solidFill>
                  <a:srgbClr val="494949"/>
                </a:solidFill>
                <a:latin typeface="Courier New"/>
                <a:cs typeface="Courier New"/>
              </a:rPr>
              <a:t>B3</a:t>
            </a:r>
            <a:endParaRPr sz="950">
              <a:latin typeface="Courier New"/>
              <a:cs typeface="Courier New"/>
            </a:endParaRPr>
          </a:p>
          <a:p>
            <a:pPr marL="23495">
              <a:lnSpc>
                <a:spcPct val="100000"/>
              </a:lnSpc>
              <a:spcBef>
                <a:spcPts val="55"/>
              </a:spcBef>
            </a:pPr>
            <a:r>
              <a:rPr dirty="0" sz="950" spc="-25">
                <a:solidFill>
                  <a:srgbClr val="484848"/>
                </a:solidFill>
                <a:latin typeface="Courier New"/>
                <a:cs typeface="Courier New"/>
              </a:rPr>
              <a:t>%B-</a:t>
            </a:r>
            <a:endParaRPr sz="95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solidFill>
                  <a:srgbClr val="2F2F2F"/>
                </a:solidFill>
                <a:latin typeface="Courier New"/>
                <a:cs typeface="Courier New"/>
              </a:rPr>
              <a:t>%B+</a:t>
            </a:r>
            <a:endParaRPr sz="900">
              <a:latin typeface="Courier New"/>
              <a:cs typeface="Courier New"/>
            </a:endParaRPr>
          </a:p>
          <a:p>
            <a:pPr algn="r" marL="26670" marR="53340" indent="147320">
              <a:lnSpc>
                <a:spcPct val="104800"/>
              </a:lnSpc>
              <a:spcBef>
                <a:spcPts val="10"/>
              </a:spcBef>
            </a:pPr>
            <a:r>
              <a:rPr dirty="0" sz="950" spc="-25">
                <a:solidFill>
                  <a:srgbClr val="313131"/>
                </a:solidFill>
                <a:latin typeface="Courier New"/>
                <a:cs typeface="Courier New"/>
              </a:rPr>
              <a:t>BA1 </a:t>
            </a:r>
            <a:r>
              <a:rPr dirty="0" sz="950" spc="-25">
                <a:solidFill>
                  <a:srgbClr val="383838"/>
                </a:solidFill>
                <a:latin typeface="Courier New"/>
                <a:cs typeface="Courier New"/>
              </a:rPr>
              <a:t>BA2 </a:t>
            </a:r>
            <a:r>
              <a:rPr dirty="0" sz="950" spc="80">
                <a:solidFill>
                  <a:srgbClr val="505050"/>
                </a:solidFill>
                <a:latin typeface="Courier New"/>
                <a:cs typeface="Courier New"/>
              </a:rPr>
              <a:t>MBA3</a:t>
            </a:r>
            <a:endParaRPr sz="950">
              <a:latin typeface="Courier New"/>
              <a:cs typeface="Courier New"/>
            </a:endParaRPr>
          </a:p>
          <a:p>
            <a:pPr algn="just" marL="160020" marR="5080" indent="-12700">
              <a:lnSpc>
                <a:spcPct val="104800"/>
              </a:lnSpc>
            </a:pPr>
            <a:r>
              <a:rPr dirty="0" sz="950" spc="-20" i="1">
                <a:solidFill>
                  <a:srgbClr val="3A3A3A"/>
                </a:solidFill>
                <a:latin typeface="Courier New"/>
                <a:cs typeface="Courier New"/>
              </a:rPr>
              <a:t>8AAI </a:t>
            </a:r>
            <a:r>
              <a:rPr dirty="0" sz="950" spc="-40">
                <a:solidFill>
                  <a:srgbClr val="313131"/>
                </a:solidFill>
                <a:latin typeface="Courier New"/>
                <a:cs typeface="Courier New"/>
              </a:rPr>
              <a:t>BAA2 </a:t>
            </a:r>
            <a:r>
              <a:rPr dirty="0" sz="950" spc="-40">
                <a:solidFill>
                  <a:srgbClr val="494949"/>
                </a:solidFill>
                <a:latin typeface="Courier New"/>
                <a:cs typeface="Courier New"/>
              </a:rPr>
              <a:t>BAA3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 spc="-25">
                <a:solidFill>
                  <a:srgbClr val="5D5D5D"/>
                </a:solidFill>
                <a:latin typeface="Courier New"/>
                <a:cs typeface="Courier New"/>
              </a:rPr>
              <a:t>ABB</a:t>
            </a:r>
            <a:endParaRPr sz="950">
              <a:latin typeface="Courier New"/>
              <a:cs typeface="Courier New"/>
            </a:endParaRPr>
          </a:p>
          <a:p>
            <a:pPr algn="just" marL="145415" marR="25400" indent="6985">
              <a:lnSpc>
                <a:spcPct val="104800"/>
              </a:lnSpc>
            </a:pPr>
            <a:r>
              <a:rPr dirty="0" sz="950" spc="-25">
                <a:solidFill>
                  <a:srgbClr val="494949"/>
                </a:solidFill>
                <a:latin typeface="Courier New"/>
                <a:cs typeface="Courier New"/>
              </a:rPr>
              <a:t>BB- </a:t>
            </a:r>
            <a:r>
              <a:rPr dirty="0" sz="950" spc="-25">
                <a:solidFill>
                  <a:srgbClr val="1D1D1D"/>
                </a:solidFill>
                <a:latin typeface="Courier New"/>
                <a:cs typeface="Courier New"/>
              </a:rPr>
              <a:t>BB+ </a:t>
            </a:r>
            <a:r>
              <a:rPr dirty="0" sz="950" spc="-25">
                <a:solidFill>
                  <a:srgbClr val="3F3F3F"/>
                </a:solidFill>
                <a:latin typeface="Courier New"/>
                <a:cs typeface="Courier New"/>
              </a:rPr>
              <a:t>BBB </a:t>
            </a:r>
            <a:r>
              <a:rPr dirty="0" sz="950" spc="-45">
                <a:solidFill>
                  <a:srgbClr val="525252"/>
                </a:solidFill>
                <a:latin typeface="Courier New"/>
                <a:cs typeface="Courier New"/>
              </a:rPr>
              <a:t>BBB- </a:t>
            </a:r>
            <a:r>
              <a:rPr dirty="0" sz="950" spc="-45">
                <a:solidFill>
                  <a:srgbClr val="3D3D3D"/>
                </a:solidFill>
                <a:latin typeface="Courier New"/>
                <a:cs typeface="Courier New"/>
              </a:rPr>
              <a:t>BBB+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7988" y="1721449"/>
            <a:ext cx="338104" cy="46771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0619" y="1679186"/>
            <a:ext cx="338104" cy="47264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3249" y="2003202"/>
            <a:ext cx="338104" cy="440240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58613" y="3654691"/>
            <a:ext cx="167640" cy="501650"/>
          </a:xfrm>
          <a:prstGeom prst="rect">
            <a:avLst/>
          </a:prstGeom>
        </p:spPr>
        <p:txBody>
          <a:bodyPr wrap="square" lIns="0" tIns="6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105">
                <a:solidFill>
                  <a:srgbClr val="3D3D3D"/>
                </a:solidFill>
                <a:latin typeface="Arial MT"/>
                <a:cs typeface="Arial MT"/>
              </a:rPr>
              <a:t>Score</a:t>
            </a:r>
            <a:r>
              <a:rPr dirty="0" sz="1000" spc="-3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61616"/>
                </a:solidFill>
                <a:latin typeface="Arial MT"/>
                <a:cs typeface="Arial MT"/>
              </a:rPr>
              <a:t>Diff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08113" y="1200204"/>
            <a:ext cx="1304050" cy="10565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51158" y="1513282"/>
            <a:ext cx="2244725" cy="5048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707070"/>
                </a:solidFill>
                <a:latin typeface="Arial MT"/>
                <a:cs typeface="Arial MT"/>
              </a:rPr>
              <a:t>120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>
              <a:latin typeface="Arial MT"/>
              <a:cs typeface="Arial MT"/>
            </a:endParaRPr>
          </a:p>
          <a:p>
            <a:pPr algn="r" marR="2026920">
              <a:lnSpc>
                <a:spcPct val="100000"/>
              </a:lnSpc>
            </a:pPr>
            <a:r>
              <a:rPr dirty="0" sz="950" spc="-45">
                <a:solidFill>
                  <a:srgbClr val="747474"/>
                </a:solidFill>
                <a:latin typeface="Courier New"/>
                <a:cs typeface="Courier New"/>
              </a:rPr>
              <a:t>110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50">
              <a:latin typeface="Courier New"/>
              <a:cs typeface="Courier New"/>
            </a:endParaRPr>
          </a:p>
          <a:p>
            <a:pPr algn="r" marR="2026920">
              <a:lnSpc>
                <a:spcPct val="100000"/>
              </a:lnSpc>
            </a:pPr>
            <a:r>
              <a:rPr dirty="0" sz="1000" spc="-70">
                <a:solidFill>
                  <a:srgbClr val="838383"/>
                </a:solidFill>
                <a:latin typeface="Courier New"/>
                <a:cs typeface="Courier New"/>
              </a:rPr>
              <a:t>100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Courier New"/>
              <a:cs typeface="Courier New"/>
            </a:endParaRPr>
          </a:p>
          <a:p>
            <a:pPr algn="r" marR="2031364">
              <a:lnSpc>
                <a:spcPct val="100000"/>
              </a:lnSpc>
            </a:pPr>
            <a:r>
              <a:rPr dirty="0" sz="1000" spc="-25">
                <a:solidFill>
                  <a:srgbClr val="727272"/>
                </a:solidFill>
                <a:latin typeface="Courier New"/>
                <a:cs typeface="Courier New"/>
              </a:rPr>
              <a:t>90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0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</a:pPr>
            <a:r>
              <a:rPr dirty="0" sz="950" spc="-25">
                <a:solidFill>
                  <a:srgbClr val="7E7E7E"/>
                </a:solidFill>
                <a:latin typeface="Consolas"/>
                <a:cs typeface="Consolas"/>
              </a:rPr>
              <a:t>80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50">
              <a:latin typeface="Consolas"/>
              <a:cs typeface="Consolas"/>
            </a:endParaRPr>
          </a:p>
          <a:p>
            <a:pPr algn="r" marR="2033905">
              <a:lnSpc>
                <a:spcPct val="100000"/>
              </a:lnSpc>
            </a:pPr>
            <a:r>
              <a:rPr dirty="0" sz="1000" spc="-25">
                <a:solidFill>
                  <a:srgbClr val="878787"/>
                </a:solidFill>
                <a:latin typeface="Courier New"/>
                <a:cs typeface="Courier New"/>
              </a:rPr>
              <a:t>70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000">
              <a:latin typeface="Courier New"/>
              <a:cs typeface="Courier New"/>
            </a:endParaRPr>
          </a:p>
          <a:p>
            <a:pPr marL="76200">
              <a:lnSpc>
                <a:spcPct val="100000"/>
              </a:lnSpc>
            </a:pPr>
            <a:r>
              <a:rPr dirty="0" sz="950" spc="-25">
                <a:solidFill>
                  <a:srgbClr val="6E6E6E"/>
                </a:solidFill>
                <a:latin typeface="Arial MT"/>
                <a:cs typeface="Arial MT"/>
              </a:rPr>
              <a:t>G0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950">
              <a:latin typeface="Arial MT"/>
              <a:cs typeface="Arial MT"/>
            </a:endParaRPr>
          </a:p>
          <a:p>
            <a:pPr algn="r" marR="2032635">
              <a:lnSpc>
                <a:spcPct val="100000"/>
              </a:lnSpc>
            </a:pPr>
            <a:r>
              <a:rPr dirty="0" sz="1000" spc="-25">
                <a:solidFill>
                  <a:srgbClr val="7B7B7B"/>
                </a:solidFill>
                <a:latin typeface="Courier New"/>
                <a:cs typeface="Courier New"/>
              </a:rPr>
              <a:t>50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000">
              <a:latin typeface="Courier New"/>
              <a:cs typeface="Courier New"/>
            </a:endParaRPr>
          </a:p>
          <a:p>
            <a:pPr algn="r" marR="2032000">
              <a:lnSpc>
                <a:spcPct val="100000"/>
              </a:lnSpc>
              <a:spcBef>
                <a:spcPts val="5"/>
              </a:spcBef>
            </a:pPr>
            <a:r>
              <a:rPr dirty="0" sz="1000" spc="-25">
                <a:solidFill>
                  <a:srgbClr val="828282"/>
                </a:solidFill>
                <a:latin typeface="Courier New"/>
                <a:cs typeface="Courier New"/>
              </a:rPr>
              <a:t>40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000">
              <a:latin typeface="Courier New"/>
              <a:cs typeface="Courier New"/>
            </a:endParaRPr>
          </a:p>
          <a:p>
            <a:pPr algn="r" marR="2032635">
              <a:lnSpc>
                <a:spcPct val="100000"/>
              </a:lnSpc>
            </a:pPr>
            <a:r>
              <a:rPr dirty="0" sz="1000" spc="-25">
                <a:solidFill>
                  <a:srgbClr val="6B6B6B"/>
                </a:solidFill>
                <a:latin typeface="Courier New"/>
                <a:cs typeface="Courier New"/>
              </a:rPr>
              <a:t>30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Courier New"/>
              <a:cs typeface="Courier New"/>
            </a:endParaRPr>
          </a:p>
          <a:p>
            <a:pPr algn="r" marR="2032635">
              <a:lnSpc>
                <a:spcPct val="100000"/>
              </a:lnSpc>
            </a:pPr>
            <a:r>
              <a:rPr dirty="0" sz="1000" spc="-25">
                <a:solidFill>
                  <a:srgbClr val="797979"/>
                </a:solidFill>
                <a:latin typeface="Courier New"/>
                <a:cs typeface="Courier New"/>
              </a:rPr>
              <a:t>20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000">
              <a:latin typeface="Courier New"/>
              <a:cs typeface="Courier New"/>
            </a:endParaRPr>
          </a:p>
          <a:p>
            <a:pPr algn="r" marR="2031364">
              <a:lnSpc>
                <a:spcPct val="100000"/>
              </a:lnSpc>
              <a:spcBef>
                <a:spcPts val="5"/>
              </a:spcBef>
            </a:pPr>
            <a:r>
              <a:rPr dirty="0" sz="1000" spc="-25">
                <a:solidFill>
                  <a:srgbClr val="646464"/>
                </a:solidFill>
                <a:latin typeface="Courier New"/>
                <a:cs typeface="Courier New"/>
              </a:rPr>
              <a:t>10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000">
              <a:latin typeface="Courier New"/>
              <a:cs typeface="Courier New"/>
            </a:endParaRPr>
          </a:p>
          <a:p>
            <a:pPr algn="r" marR="2026920">
              <a:lnSpc>
                <a:spcPct val="100000"/>
              </a:lnSpc>
            </a:pPr>
            <a:r>
              <a:rPr dirty="0" sz="1000" spc="-50">
                <a:solidFill>
                  <a:srgbClr val="898989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  <a:p>
            <a:pPr marL="257810">
              <a:lnSpc>
                <a:spcPct val="100000"/>
              </a:lnSpc>
              <a:spcBef>
                <a:spcPts val="260"/>
              </a:spcBef>
            </a:pPr>
            <a:r>
              <a:rPr dirty="0" sz="900" spc="-40">
                <a:solidFill>
                  <a:srgbClr val="828282"/>
                </a:solidFill>
                <a:latin typeface="Arial MT"/>
                <a:cs typeface="Arial MT"/>
              </a:rPr>
              <a:t>Bond</a:t>
            </a:r>
            <a:r>
              <a:rPr dirty="0" sz="900" spc="-25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dirty="0" sz="900" spc="-60">
                <a:solidFill>
                  <a:srgbClr val="747474"/>
                </a:solidFill>
                <a:latin typeface="Arial MT"/>
                <a:cs typeface="Arial MT"/>
              </a:rPr>
              <a:t>R..</a:t>
            </a:r>
            <a:r>
              <a:rPr dirty="0" sz="900" spc="-12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5B5B5B"/>
                </a:solidFill>
                <a:latin typeface="Arial MT"/>
                <a:cs typeface="Arial MT"/>
              </a:rPr>
              <a:t>Ccrpor..</a:t>
            </a:r>
            <a:r>
              <a:rPr dirty="0" sz="900" spc="-3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606060"/>
                </a:solidFill>
                <a:latin typeface="Arial MT"/>
                <a:cs typeface="Arial MT"/>
              </a:rPr>
              <a:t>Issuer</a:t>
            </a:r>
            <a:r>
              <a:rPr dirty="0" sz="900" spc="-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58585"/>
                </a:solidFill>
                <a:latin typeface="Arial MT"/>
                <a:cs typeface="Arial MT"/>
              </a:rPr>
              <a:t>..</a:t>
            </a:r>
            <a:r>
              <a:rPr dirty="0" sz="900" spc="30">
                <a:solidFill>
                  <a:srgbClr val="858585"/>
                </a:solidFill>
                <a:latin typeface="Arial MT"/>
                <a:cs typeface="Arial MT"/>
              </a:rPr>
              <a:t> </a:t>
            </a:r>
            <a:r>
              <a:rPr dirty="0" sz="900" spc="-60">
                <a:solidFill>
                  <a:srgbClr val="606060"/>
                </a:solidFill>
                <a:latin typeface="Arial MT"/>
                <a:cs typeface="Arial MT"/>
              </a:rPr>
              <a:t>Long</a:t>
            </a:r>
            <a:r>
              <a:rPr dirty="0" sz="900" spc="-1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9E9E9E"/>
                </a:solidFill>
                <a:latin typeface="Arial MT"/>
                <a:cs typeface="Arial MT"/>
              </a:rPr>
              <a:t>T.</a:t>
            </a:r>
            <a:r>
              <a:rPr dirty="0" sz="900">
                <a:solidFill>
                  <a:srgbClr val="B1B1B1"/>
                </a:solidFill>
                <a:latin typeface="Arial MT"/>
                <a:cs typeface="Arial MT"/>
              </a:rPr>
              <a:t>.</a:t>
            </a:r>
            <a:r>
              <a:rPr dirty="0" sz="900" spc="15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7B7B7B"/>
                </a:solidFill>
                <a:latin typeface="Arial MT"/>
                <a:cs typeface="Arial MT"/>
              </a:rPr>
              <a:t>SüGrt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56545" y="1280835"/>
            <a:ext cx="6184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F2F2F"/>
                </a:solidFill>
                <a:latin typeface="Arial MT"/>
                <a:cs typeface="Arial MT"/>
              </a:rPr>
              <a:t>Rating</a:t>
            </a:r>
            <a:r>
              <a:rPr dirty="0" sz="900" spc="-6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232323"/>
                </a:solidFill>
                <a:latin typeface="Arial MT"/>
                <a:cs typeface="Arial MT"/>
              </a:rPr>
              <a:t>Type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86754" y="985483"/>
            <a:ext cx="133286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161616"/>
                </a:solidFill>
                <a:latin typeface="Arial MT"/>
                <a:cs typeface="Arial MT"/>
              </a:rPr>
              <a:t>Outlier</a:t>
            </a:r>
            <a:r>
              <a:rPr dirty="0" sz="1450" spc="2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F1F1F"/>
                </a:solidFill>
                <a:latin typeface="Arial MT"/>
                <a:cs typeface="Arial MT"/>
              </a:rPr>
              <a:t>Severity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18731" y="966700"/>
            <a:ext cx="85534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25252"/>
                </a:solidFill>
                <a:latin typeface="Arial MT"/>
                <a:cs typeface="Arial MT"/>
              </a:rPr>
              <a:t>SU</a:t>
            </a:r>
            <a:r>
              <a:rPr dirty="0" sz="850">
                <a:solidFill>
                  <a:srgbClr val="363636"/>
                </a:solidFill>
                <a:latin typeface="Arial MT"/>
                <a:cs typeface="Arial MT"/>
              </a:rPr>
              <a:t>M(Outlier</a:t>
            </a:r>
            <a:r>
              <a:rPr dirty="0" sz="850" spc="-6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3B3B3B"/>
                </a:solidFill>
                <a:latin typeface="Arial MT"/>
                <a:cs typeface="Arial MT"/>
              </a:rPr>
              <a:t>Pet)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88236" y="1289249"/>
            <a:ext cx="2514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50">
                <a:solidFill>
                  <a:srgbClr val="545454"/>
                </a:solidFill>
                <a:latin typeface="Courier New"/>
                <a:cs typeface="Courier New"/>
              </a:rPr>
              <a:t>0.00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94717" y="1302651"/>
            <a:ext cx="30416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85">
                <a:solidFill>
                  <a:srgbClr val="626262"/>
                </a:solidFill>
                <a:latin typeface="Consolas"/>
                <a:cs typeface="Consolas"/>
              </a:rPr>
              <a:t>13.00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152" y="3195921"/>
            <a:ext cx="247047" cy="27245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8662" y="2292433"/>
            <a:ext cx="1799915" cy="362806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55039" y="1833632"/>
            <a:ext cx="1517575" cy="40868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9075" y="2292433"/>
            <a:ext cx="670556" cy="362806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37265" y="4558211"/>
            <a:ext cx="388216" cy="136228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01944" y="2292433"/>
            <a:ext cx="670556" cy="362806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8962" y="2744177"/>
            <a:ext cx="529386" cy="317632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54812" y="3654723"/>
            <a:ext cx="105877" cy="226577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37151" y="4106467"/>
            <a:ext cx="388216" cy="181403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94771" y="2737119"/>
            <a:ext cx="261164" cy="319043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2228" y="3266506"/>
            <a:ext cx="105877" cy="7482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668878" y="919699"/>
            <a:ext cx="1184275" cy="466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105"/>
              </a:spcBef>
            </a:pPr>
            <a:r>
              <a:rPr dirty="0" sz="1450" spc="-105">
                <a:solidFill>
                  <a:srgbClr val="212121"/>
                </a:solidFill>
                <a:latin typeface="Arial MT"/>
                <a:cs typeface="Arial MT"/>
              </a:rPr>
              <a:t>Top</a:t>
            </a:r>
            <a:r>
              <a:rPr dirty="0" sz="14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32323"/>
                </a:solidFill>
                <a:latin typeface="Arial MT"/>
                <a:cs typeface="Arial MT"/>
              </a:rPr>
              <a:t>Outliers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10">
                <a:solidFill>
                  <a:srgbClr val="2A2A2A"/>
                </a:solidFill>
                <a:latin typeface="Arial MT"/>
                <a:cs typeface="Arial MT"/>
              </a:rPr>
              <a:t>Security</a:t>
            </a:r>
            <a:r>
              <a:rPr dirty="0" sz="900" spc="-2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Name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92" y="4323393"/>
            <a:ext cx="738582" cy="84409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3894" y="4042028"/>
            <a:ext cx="457217" cy="61196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5546" y="1256520"/>
            <a:ext cx="3186454" cy="34256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77459" y="3387857"/>
            <a:ext cx="253228" cy="492388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9130116" y="1230141"/>
            <a:ext cx="1265555" cy="0"/>
          </a:xfrm>
          <a:custGeom>
            <a:avLst/>
            <a:gdLst/>
            <a:ahLst/>
            <a:cxnLst/>
            <a:rect l="l" t="t" r="r" b="b"/>
            <a:pathLst>
              <a:path w="1265554" h="0">
                <a:moveTo>
                  <a:pt x="0" y="0"/>
                </a:moveTo>
                <a:lnTo>
                  <a:pt x="1264968" y="0"/>
                </a:lnTo>
              </a:path>
            </a:pathLst>
          </a:custGeom>
          <a:ln w="15240">
            <a:solidFill>
              <a:srgbClr val="3F779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28976" y="6490976"/>
            <a:ext cx="14420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757575"/>
                </a:solidFill>
                <a:latin typeface="Times New Roman"/>
                <a:cs typeface="Times New Roman"/>
              </a:rPr>
              <a:t>'</a:t>
            </a:r>
            <a:r>
              <a:rPr dirty="0" sz="750" spc="190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757575"/>
                </a:solidFill>
                <a:latin typeface="Times New Roman"/>
                <a:cs typeface="Times New Roman"/>
              </a:rPr>
              <a:t>'</a:t>
            </a:r>
            <a:r>
              <a:rPr dirty="0" sz="750" spc="-5">
                <a:solidFill>
                  <a:srgbClr val="757575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5E5E5E"/>
                </a:solidFill>
                <a:latin typeface="Times New Roman"/>
                <a:cs typeface="Times New Roman"/>
              </a:rPr>
              <a:t>2025</a:t>
            </a:r>
            <a:r>
              <a:rPr dirty="0" sz="750" spc="35">
                <a:solidFill>
                  <a:srgbClr val="5E5E5E"/>
                </a:solidFill>
                <a:latin typeface="Times New Roman"/>
                <a:cs typeface="Times New Roman"/>
              </a:rPr>
              <a:t> </a:t>
            </a:r>
            <a:r>
              <a:rPr dirty="0" sz="750" spc="-35">
                <a:solidFill>
                  <a:srgbClr val="545454"/>
                </a:solidFill>
                <a:latin typeface="Times New Roman"/>
                <a:cs typeface="Times New Roman"/>
              </a:rPr>
              <a:t>I\1apbox</a:t>
            </a:r>
            <a:r>
              <a:rPr dirty="0" sz="750" spc="80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707070"/>
                </a:solidFill>
                <a:latin typeface="Times New Roman"/>
                <a:cs typeface="Times New Roman"/>
              </a:rPr>
              <a:t>*</a:t>
            </a:r>
            <a:r>
              <a:rPr dirty="0" sz="750" spc="204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646464"/>
                </a:solidFill>
                <a:latin typeface="Times New Roman"/>
                <a:cs typeface="Times New Roman"/>
              </a:rPr>
              <a:t>OperiStree\Map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51473" y="902078"/>
            <a:ext cx="174688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Times New Roman"/>
                <a:cs typeface="Times New Roman"/>
              </a:rPr>
              <a:t>Country</a:t>
            </a:r>
            <a:r>
              <a:rPr dirty="0" sz="1500" spc="405">
                <a:latin typeface="Times New Roman"/>
                <a:cs typeface="Times New Roman"/>
              </a:rPr>
              <a:t> </a:t>
            </a:r>
            <a:r>
              <a:rPr dirty="0" sz="1500" spc="40">
                <a:latin typeface="Times New Roman"/>
                <a:cs typeface="Times New Roman"/>
              </a:rPr>
              <a:t>Comparison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10477" y="900222"/>
            <a:ext cx="93408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161616"/>
                </a:solidFill>
                <a:latin typeface="Times New Roman"/>
                <a:cs typeface="Times New Roman"/>
              </a:rPr>
              <a:t>A\/G(Rating</a:t>
            </a:r>
            <a:r>
              <a:rPr dirty="0" sz="850" spc="11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2D2D2D"/>
                </a:solidFill>
                <a:latin typeface="Times New Roman"/>
                <a:cs typeface="Times New Roman"/>
              </a:rPr>
              <a:t>Score)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85584" y="1238544"/>
            <a:ext cx="371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2D2D2D"/>
                </a:solidFill>
                <a:latin typeface="Times New Roman"/>
                <a:cs typeface="Times New Roman"/>
              </a:rPr>
              <a:t>3.4515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27642" y="1225843"/>
            <a:ext cx="3689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B3B3B"/>
                </a:solidFill>
                <a:latin typeface="Times New Roman"/>
                <a:cs typeface="Times New Roman"/>
              </a:rPr>
              <a:t>3</a:t>
            </a:r>
            <a:r>
              <a:rPr dirty="0" sz="1000" spc="-3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3B3B3B"/>
                </a:solidFill>
                <a:latin typeface="Times New Roman"/>
                <a:cs typeface="Times New Roman"/>
              </a:rPr>
              <a:t>9244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9933" y="5079240"/>
            <a:ext cx="804591" cy="133450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2844" y="5091427"/>
            <a:ext cx="804591" cy="132231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3441" y="5103614"/>
            <a:ext cx="798496" cy="131012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17945" y="5115801"/>
            <a:ext cx="798496" cy="129794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2447" y="5164550"/>
            <a:ext cx="804591" cy="124919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950" y="5377827"/>
            <a:ext cx="798496" cy="103591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75358" y="5402202"/>
            <a:ext cx="804591" cy="101154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9739" y="3500991"/>
            <a:ext cx="579062" cy="73123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33854" y="3519272"/>
            <a:ext cx="579062" cy="70686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07968" y="3513178"/>
            <a:ext cx="579062" cy="72514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75988" y="2946471"/>
            <a:ext cx="591252" cy="138325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50103" y="3208497"/>
            <a:ext cx="585157" cy="112122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95681" y="2781943"/>
            <a:ext cx="3023315" cy="148684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4016" y="3178028"/>
            <a:ext cx="225529" cy="914043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5880046" y="3263339"/>
            <a:ext cx="396240" cy="646430"/>
            <a:chOff x="5880046" y="3263339"/>
            <a:chExt cx="396240" cy="646430"/>
          </a:xfrm>
        </p:grpSpPr>
        <p:pic>
          <p:nvPicPr>
            <p:cNvPr id="17" name="object 1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8049" y="3263339"/>
              <a:ext cx="268197" cy="47530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80046" y="3263339"/>
              <a:ext cx="91430" cy="645924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22019" y="2934284"/>
            <a:ext cx="91430" cy="6093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20240" y="2903815"/>
            <a:ext cx="249911" cy="6702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256893" y="4360191"/>
            <a:ext cx="201147" cy="7617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48874" y="5426576"/>
            <a:ext cx="280388" cy="42046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019529" y="6444212"/>
            <a:ext cx="207243" cy="73123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2091974" y="747683"/>
            <a:ext cx="6361430" cy="769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336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B16B83"/>
                </a:solidFill>
                <a:latin typeface="Calibri"/>
                <a:cs typeface="Calibri"/>
              </a:rPr>
              <a:t>Credit</a:t>
            </a:r>
            <a:r>
              <a:rPr dirty="0" sz="1500" spc="125">
                <a:solidFill>
                  <a:srgbClr val="B16B83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C87C95"/>
                </a:solidFill>
                <a:latin typeface="Calibri"/>
                <a:cs typeface="Calibri"/>
              </a:rPr>
              <a:t>Rating</a:t>
            </a:r>
            <a:r>
              <a:rPr dirty="0" sz="1500" spc="55">
                <a:solidFill>
                  <a:srgbClr val="C87C95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CF728E"/>
                </a:solidFill>
                <a:latin typeface="Calibri"/>
                <a:cs typeface="Calibri"/>
              </a:rPr>
              <a:t>KPI</a:t>
            </a:r>
            <a:r>
              <a:rPr dirty="0" sz="1500" spc="300">
                <a:solidFill>
                  <a:srgbClr val="CF728E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CA7C97"/>
                </a:solidFill>
                <a:latin typeface="Calibri"/>
                <a:cs typeface="Calibri"/>
              </a:rPr>
              <a:t>Dashboard</a:t>
            </a:r>
            <a:r>
              <a:rPr dirty="0" sz="1500" spc="110">
                <a:solidFill>
                  <a:srgbClr val="CA7C97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C1798E"/>
                </a:solidFill>
                <a:latin typeface="Calibri"/>
                <a:cs typeface="Calibri"/>
              </a:rPr>
              <a:t>(202</a:t>
            </a:r>
            <a:r>
              <a:rPr dirty="0" sz="1500" spc="90">
                <a:solidFill>
                  <a:srgbClr val="C87C97"/>
                </a:solidFill>
                <a:latin typeface="Calibri"/>
                <a:cs typeface="Calibri"/>
              </a:rPr>
              <a:t>1—</a:t>
            </a:r>
            <a:r>
              <a:rPr dirty="0" sz="1500" spc="-10">
                <a:solidFill>
                  <a:srgbClr val="C87C97"/>
                </a:solidFill>
                <a:latin typeface="Calibri"/>
                <a:cs typeface="Calibri"/>
              </a:rPr>
              <a:t>2025)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Consolidated</a:t>
            </a:r>
            <a:r>
              <a:rPr dirty="0" sz="1400" spc="2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summary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518"/>
                </a:solidFill>
                <a:latin typeface="Calibri"/>
                <a:cs typeface="Calibri"/>
              </a:rPr>
              <a:t>of</a:t>
            </a:r>
            <a:r>
              <a:rPr dirty="0" sz="1400" spc="114">
                <a:solidFill>
                  <a:srgbClr val="000518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credit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rating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movements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across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vendors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31D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00031D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rating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types.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73739" y="1648423"/>
            <a:ext cx="1168400" cy="49847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dirty="0" sz="1400">
                <a:solidFill>
                  <a:srgbClr val="5D9C6B"/>
                </a:solidFill>
                <a:latin typeface="Calibri"/>
                <a:cs typeface="Calibri"/>
              </a:rPr>
              <a:t>Total</a:t>
            </a:r>
            <a:r>
              <a:rPr dirty="0" sz="1400" spc="105">
                <a:solidFill>
                  <a:srgbClr val="5D9C6B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E9C75"/>
                </a:solidFill>
                <a:latin typeface="Calibri"/>
                <a:cs typeface="Calibri"/>
              </a:rPr>
              <a:t>Upgrades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10">
                <a:solidFill>
                  <a:srgbClr val="1F1F1F"/>
                </a:solidFill>
                <a:latin typeface="Courier New"/>
                <a:cs typeface="Courier New"/>
              </a:rPr>
              <a:t>1,123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81528" y="2507218"/>
            <a:ext cx="1616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C1C"/>
                </a:solidFill>
                <a:latin typeface="Arial MT"/>
                <a:cs typeface="Arial MT"/>
              </a:rPr>
              <a:t>Rating</a:t>
            </a:r>
            <a:r>
              <a:rPr dirty="0" sz="1200" spc="-25">
                <a:solidFill>
                  <a:srgbClr val="1C1C1C"/>
                </a:solidFill>
                <a:latin typeface="Arial MT"/>
                <a:cs typeface="Arial MT"/>
              </a:rPr>
              <a:t> Trend</a:t>
            </a:r>
            <a:r>
              <a:rPr dirty="0" sz="1200" spc="-3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dirty="0" sz="12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1A1A1A"/>
                </a:solidFill>
                <a:latin typeface="Arial MT"/>
                <a:cs typeface="Arial MT"/>
              </a:rPr>
              <a:t>Vendor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27514" y="4316009"/>
            <a:ext cx="2476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595959"/>
                </a:solidFill>
                <a:latin typeface="Courier New"/>
                <a:cs typeface="Courier New"/>
              </a:rPr>
              <a:t>2021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196469" y="4316009"/>
            <a:ext cx="2381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757575"/>
                </a:solidFill>
                <a:latin typeface="Courier New"/>
                <a:cs typeface="Courier New"/>
              </a:rPr>
              <a:t>?02?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92865" y="4643287"/>
            <a:ext cx="160401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1C1C1C"/>
                </a:solidFill>
                <a:latin typeface="Arial MT"/>
                <a:cs typeface="Arial MT"/>
              </a:rPr>
              <a:t>Vendor</a:t>
            </a:r>
            <a:r>
              <a:rPr dirty="0" sz="1150" spc="13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1F1F1F"/>
                </a:solidFill>
                <a:latin typeface="Arial MT"/>
                <a:cs typeface="Arial MT"/>
              </a:rPr>
              <a:t>Rating</a:t>
            </a:r>
            <a:r>
              <a:rPr dirty="0" sz="1150" spc="13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Arial MT"/>
                <a:cs typeface="Arial MT"/>
              </a:rPr>
              <a:t>Changes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61116" y="6247179"/>
            <a:ext cx="92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C3C3C3"/>
                </a:solidFill>
                <a:latin typeface="Courier New"/>
                <a:cs typeface="Courier New"/>
              </a:rPr>
              <a:t>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689566" y="6400028"/>
            <a:ext cx="2159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747474"/>
                </a:solidFill>
                <a:latin typeface="Calibri"/>
                <a:cs typeface="Calibri"/>
              </a:rPr>
              <a:t>Kroll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488933" y="1685391"/>
            <a:ext cx="1370965" cy="489584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1300" spc="55">
                <a:solidFill>
                  <a:srgbClr val="CA919C"/>
                </a:solidFill>
                <a:latin typeface="Calibri"/>
                <a:cs typeface="Calibri"/>
              </a:rPr>
              <a:t>Total</a:t>
            </a:r>
            <a:r>
              <a:rPr dirty="0" sz="1300" spc="20">
                <a:solidFill>
                  <a:srgbClr val="CA919C"/>
                </a:solidFill>
                <a:latin typeface="Calibri"/>
                <a:cs typeface="Calibri"/>
              </a:rPr>
              <a:t> </a:t>
            </a:r>
            <a:r>
              <a:rPr dirty="0" sz="1300" spc="40">
                <a:solidFill>
                  <a:srgbClr val="EF8787"/>
                </a:solidFill>
                <a:latin typeface="Calibri"/>
                <a:cs typeface="Calibri"/>
              </a:rPr>
              <a:t>Downgrades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250" spc="-25">
                <a:latin typeface="Calibri"/>
                <a:cs typeface="Calibri"/>
              </a:rPr>
              <a:t>999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674204" y="2768736"/>
            <a:ext cx="84836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20">
                <a:solidFill>
                  <a:srgbClr val="333333"/>
                </a:solidFill>
                <a:latin typeface="Cambria"/>
                <a:cs typeface="Cambria"/>
              </a:rPr>
              <a:t>I</a:t>
            </a:r>
            <a:r>
              <a:rPr dirty="0" sz="700" spc="4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700" spc="20">
                <a:solidFill>
                  <a:srgbClr val="1C1C1C"/>
                </a:solidFill>
                <a:latin typeface="Cambria"/>
                <a:cs typeface="Cambria"/>
              </a:rPr>
              <a:t>Elective </a:t>
            </a:r>
            <a:r>
              <a:rPr dirty="0" sz="700" spc="20">
                <a:solidFill>
                  <a:srgbClr val="313131"/>
                </a:solidFill>
                <a:latin typeface="Cambria"/>
                <a:cs typeface="Cambria"/>
              </a:rPr>
              <a:t>Start</a:t>
            </a:r>
            <a:r>
              <a:rPr dirty="0" sz="700" spc="35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dirty="0" sz="700" spc="-20">
                <a:solidFill>
                  <a:srgbClr val="2A2A2A"/>
                </a:solidFill>
                <a:latin typeface="Cambria"/>
                <a:cs typeface="Cambria"/>
              </a:rPr>
              <a:t>Date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25249" y="6393680"/>
            <a:ext cx="2476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696969"/>
                </a:solidFill>
                <a:latin typeface="Calibri"/>
                <a:cs typeface="Calibri"/>
              </a:rPr>
              <a:t>D9RS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969648" y="4316009"/>
            <a:ext cx="2381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595959"/>
                </a:solidFill>
                <a:latin typeface="Courier New"/>
                <a:cs typeface="Courier New"/>
              </a:rPr>
              <a:t>2C23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749857" y="4316009"/>
            <a:ext cx="227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646464"/>
                </a:solidFill>
                <a:latin typeface="Courier New"/>
                <a:cs typeface="Courier New"/>
              </a:rPr>
              <a:t>2024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716077" y="6425418"/>
            <a:ext cx="3702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797979"/>
                </a:solidFill>
                <a:latin typeface="Calibri"/>
                <a:cs typeface="Calibri"/>
              </a:rPr>
              <a:t>k*OOfi\</a:t>
            </a:r>
            <a:r>
              <a:rPr dirty="0" sz="600" spc="11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dirty="0" sz="600" spc="-25">
                <a:solidFill>
                  <a:srgbClr val="979797"/>
                </a:solidFill>
                <a:latin typeface="Calibri"/>
                <a:cs typeface="Calibri"/>
              </a:rPr>
              <a:t>'</a:t>
            </a:r>
            <a:r>
              <a:rPr dirty="0" sz="600" spc="-30">
                <a:solidFill>
                  <a:srgbClr val="979797"/>
                </a:solidFill>
                <a:latin typeface="Calibri"/>
                <a:cs typeface="Calibri"/>
              </a:rPr>
              <a:t> </a:t>
            </a:r>
            <a:r>
              <a:rPr dirty="0" sz="600" spc="-50">
                <a:solidFill>
                  <a:srgbClr val="757575"/>
                </a:solidFill>
                <a:latin typeface="Calibri"/>
                <a:cs typeface="Calibri"/>
              </a:rPr>
              <a:t>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517877" y="4316009"/>
            <a:ext cx="2381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7C7C7C"/>
                </a:solidFill>
                <a:latin typeface="Courier New"/>
                <a:cs typeface="Courier New"/>
              </a:rPr>
              <a:t>2025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846446" y="6393680"/>
            <a:ext cx="2279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828282"/>
                </a:solidFill>
                <a:latin typeface="Calibri"/>
                <a:cs typeface="Calibri"/>
              </a:rPr>
              <a:t>Fitch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067260" y="2463622"/>
            <a:ext cx="575945" cy="52514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>
                <a:solidFill>
                  <a:srgbClr val="2D2D2D"/>
                </a:solidFill>
                <a:latin typeface="Calibri"/>
                <a:cs typeface="Calibri"/>
              </a:rPr>
              <a:t>Vandor </a:t>
            </a:r>
            <a:r>
              <a:rPr dirty="0" sz="750" spc="-20">
                <a:solidFill>
                  <a:srgbClr val="181818"/>
                </a:solidFill>
                <a:latin typeface="Calibri"/>
                <a:cs typeface="Calibri"/>
              </a:rPr>
              <a:t>Name</a:t>
            </a:r>
            <a:endParaRPr sz="750">
              <a:latin typeface="Calibri"/>
              <a:cs typeface="Calibri"/>
            </a:endParaRPr>
          </a:p>
          <a:p>
            <a:pPr marL="17145" marR="205740" indent="-4445">
              <a:lnSpc>
                <a:spcPts val="960"/>
              </a:lnSpc>
              <a:spcBef>
                <a:spcPts val="135"/>
              </a:spcBef>
              <a:buClr>
                <a:srgbClr val="4979B1"/>
              </a:buClr>
              <a:buFont typeface="Arial MT"/>
              <a:buChar char="■"/>
              <a:tabLst>
                <a:tab pos="17145" algn="l"/>
                <a:tab pos="136525" algn="l"/>
              </a:tabLst>
            </a:pPr>
            <a:r>
              <a:rPr dirty="0" sz="850" spc="-25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dirty="0" sz="850" spc="-25">
                <a:solidFill>
                  <a:srgbClr val="343434"/>
                </a:solidFill>
                <a:latin typeface="Calibri"/>
                <a:cs typeface="Calibri"/>
              </a:rPr>
              <a:t>CARE</a:t>
            </a:r>
            <a:r>
              <a:rPr dirty="0" sz="850" spc="50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E29336"/>
                </a:solidFill>
                <a:latin typeface="Calibri"/>
                <a:cs typeface="Calibri"/>
              </a:rPr>
              <a:t>M</a:t>
            </a:r>
            <a:r>
              <a:rPr dirty="0" sz="850" spc="-15">
                <a:solidFill>
                  <a:srgbClr val="E29336"/>
                </a:solidFill>
                <a:latin typeface="Calibri"/>
                <a:cs typeface="Calibri"/>
              </a:rPr>
              <a:t> </a:t>
            </a:r>
            <a:r>
              <a:rPr dirty="0" sz="850" spc="-20">
                <a:solidFill>
                  <a:srgbClr val="3B3B3B"/>
                </a:solidFill>
                <a:latin typeface="Calibri"/>
                <a:cs typeface="Calibri"/>
              </a:rPr>
              <a:t>DBRS</a:t>
            </a:r>
            <a:endParaRPr sz="850">
              <a:latin typeface="Calibri"/>
              <a:cs typeface="Calibri"/>
            </a:endParaRPr>
          </a:p>
          <a:p>
            <a:pPr marL="134620">
              <a:lnSpc>
                <a:spcPts val="925"/>
              </a:lnSpc>
            </a:pPr>
            <a:r>
              <a:rPr dirty="0" sz="800" spc="-20">
                <a:solidFill>
                  <a:srgbClr val="3D3D3D"/>
                </a:solidFill>
                <a:latin typeface="Calibri"/>
                <a:cs typeface="Calibri"/>
              </a:rPr>
              <a:t>hitch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663458" y="1682831"/>
            <a:ext cx="1438910" cy="48260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400">
                <a:solidFill>
                  <a:srgbClr val="5985AF"/>
                </a:solidFill>
                <a:latin typeface="Calibri"/>
                <a:cs typeface="Calibri"/>
              </a:rPr>
              <a:t>Net</a:t>
            </a:r>
            <a:r>
              <a:rPr dirty="0" sz="1400" spc="130">
                <a:solidFill>
                  <a:srgbClr val="5985A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F6E91"/>
                </a:solidFill>
                <a:latin typeface="Calibri"/>
                <a:cs typeface="Calibri"/>
              </a:rPr>
              <a:t>Rating</a:t>
            </a:r>
            <a:r>
              <a:rPr dirty="0" sz="1400" spc="140">
                <a:solidFill>
                  <a:srgbClr val="4F6E9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D6480"/>
                </a:solidFill>
                <a:latin typeface="Calibri"/>
                <a:cs typeface="Calibri"/>
              </a:rPr>
              <a:t>Change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250" spc="-25">
                <a:latin typeface="Calibri"/>
                <a:cs typeface="Calibri"/>
              </a:rPr>
              <a:t>124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074443" y="3204429"/>
            <a:ext cx="657860" cy="2692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700">
                <a:solidFill>
                  <a:srgbClr val="F0C642"/>
                </a:solidFill>
                <a:latin typeface="Arial MT"/>
                <a:cs typeface="Arial MT"/>
              </a:rPr>
              <a:t>M</a:t>
            </a:r>
            <a:r>
              <a:rPr dirty="0" sz="700" spc="130">
                <a:solidFill>
                  <a:srgbClr val="F0C642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676767"/>
                </a:solidFill>
                <a:latin typeface="Arial MT"/>
                <a:cs typeface="Arial MT"/>
              </a:rPr>
              <a:t>Moody's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>
                <a:solidFill>
                  <a:srgbClr val="B577A3"/>
                </a:solidFill>
                <a:latin typeface="Arial MT"/>
                <a:cs typeface="Arial MT"/>
              </a:rPr>
              <a:t>M</a:t>
            </a:r>
            <a:r>
              <a:rPr dirty="0" sz="700" spc="125">
                <a:solidFill>
                  <a:srgbClr val="B577A3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4B4B4B"/>
                </a:solidFill>
                <a:latin typeface="Arial MT"/>
                <a:cs typeface="Arial MT"/>
              </a:rPr>
              <a:t>Morningstar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201360" y="4895157"/>
            <a:ext cx="584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63636"/>
                </a:solidFill>
                <a:latin typeface="Calibri"/>
                <a:cs typeface="Calibri"/>
              </a:rPr>
              <a:t>Vandor</a:t>
            </a:r>
            <a:r>
              <a:rPr dirty="0" sz="750" spc="4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2D2D2D"/>
                </a:solidFill>
                <a:latin typeface="Calibri"/>
                <a:cs typeface="Calibri"/>
              </a:rPr>
              <a:t>Nama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822486" y="2466847"/>
            <a:ext cx="11499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latin typeface="Calibri"/>
                <a:cs typeface="Calibri"/>
              </a:rPr>
              <a:t>Outller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225">
                <a:solidFill>
                  <a:srgbClr val="080808"/>
                </a:solidFill>
                <a:latin typeface="Calibri"/>
                <a:cs typeface="Calibri"/>
              </a:rPr>
              <a:t>&amp;o</a:t>
            </a:r>
            <a:r>
              <a:rPr dirty="0" sz="1350" spc="4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Trend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916698" y="6400028"/>
            <a:ext cx="1847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676767"/>
                </a:solidFill>
                <a:latin typeface="Consolas"/>
                <a:cs typeface="Consolas"/>
              </a:rPr>
              <a:t>SbP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532536" y="4316262"/>
            <a:ext cx="2413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696969"/>
                </a:solidFill>
                <a:latin typeface="Calibri"/>
                <a:cs typeface="Calibri"/>
              </a:rPr>
              <a:t>2021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956518" y="6406375"/>
            <a:ext cx="214629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797979"/>
                </a:solidFill>
                <a:latin typeface="Calibri"/>
                <a:cs typeface="Calibri"/>
              </a:rPr>
              <a:t>I</a:t>
            </a:r>
            <a:r>
              <a:rPr dirty="0" sz="750" spc="-20">
                <a:solidFill>
                  <a:srgbClr val="646464"/>
                </a:solidFill>
                <a:latin typeface="Calibri"/>
                <a:cs typeface="Calibri"/>
              </a:rPr>
              <a:t>CPA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205415" y="4303567"/>
            <a:ext cx="2406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85">
                <a:solidFill>
                  <a:srgbClr val="696969"/>
                </a:solidFill>
                <a:latin typeface="Courier New"/>
                <a:cs typeface="Courier New"/>
              </a:rPr>
              <a:t>2022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7674734" y="1665293"/>
            <a:ext cx="1861185" cy="49339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350" spc="10">
                <a:solidFill>
                  <a:srgbClr val="ED8518"/>
                </a:solidFill>
                <a:latin typeface="Calibri"/>
                <a:cs typeface="Calibri"/>
              </a:rPr>
              <a:t>Average</a:t>
            </a:r>
            <a:r>
              <a:rPr dirty="0" sz="1350" spc="265">
                <a:solidFill>
                  <a:srgbClr val="ED8518"/>
                </a:solidFill>
                <a:latin typeface="Calibri"/>
                <a:cs typeface="Calibri"/>
              </a:rPr>
              <a:t> </a:t>
            </a:r>
            <a:r>
              <a:rPr dirty="0" sz="1350" spc="10">
                <a:solidFill>
                  <a:srgbClr val="B5835B"/>
                </a:solidFill>
                <a:latin typeface="Calibri"/>
                <a:cs typeface="Calibri"/>
              </a:rPr>
              <a:t>Precision</a:t>
            </a:r>
            <a:r>
              <a:rPr dirty="0" sz="1350" spc="360">
                <a:solidFill>
                  <a:srgbClr val="B5835B"/>
                </a:solidFill>
                <a:latin typeface="Calibri"/>
                <a:cs typeface="Calibri"/>
              </a:rPr>
              <a:t> </a:t>
            </a:r>
            <a:r>
              <a:rPr dirty="0" sz="1350" spc="55">
                <a:solidFill>
                  <a:srgbClr val="CC831F"/>
                </a:solidFill>
                <a:latin typeface="Calibri"/>
                <a:cs typeface="Calibri"/>
              </a:rPr>
              <a:t>Score</a:t>
            </a:r>
            <a:endParaRPr sz="1350">
              <a:latin typeface="Calibri"/>
              <a:cs typeface="Calibri"/>
            </a:endParaRPr>
          </a:p>
          <a:p>
            <a:pPr algn="ctr" marR="3810">
              <a:lnSpc>
                <a:spcPct val="100000"/>
              </a:lnSpc>
              <a:spcBef>
                <a:spcPts val="330"/>
              </a:spcBef>
            </a:pPr>
            <a:r>
              <a:rPr dirty="0" sz="1100" spc="-10">
                <a:latin typeface="Calibri"/>
                <a:cs typeface="Calibri"/>
              </a:rPr>
              <a:t>39.2196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875909" y="4303567"/>
            <a:ext cx="2457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75">
                <a:solidFill>
                  <a:srgbClr val="7E7E7E"/>
                </a:solidFill>
                <a:latin typeface="Courier New"/>
                <a:cs typeface="Courier New"/>
              </a:rPr>
              <a:t>2023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8558592" y="4303567"/>
            <a:ext cx="2406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85">
                <a:solidFill>
                  <a:srgbClr val="696969"/>
                </a:solidFill>
                <a:latin typeface="Courier New"/>
                <a:cs typeface="Courier New"/>
              </a:rPr>
              <a:t>2024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8899881" y="6393680"/>
            <a:ext cx="5359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0">
                <a:solidFill>
                  <a:srgbClr val="676767"/>
                </a:solidFill>
                <a:latin typeface="Calibri"/>
                <a:cs typeface="Calibri"/>
              </a:rPr>
              <a:t>Morningstar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7759" y="4796312"/>
            <a:ext cx="518108" cy="17191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3393" y="4747541"/>
            <a:ext cx="444963" cy="16459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6360" y="4887755"/>
            <a:ext cx="451059" cy="161548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9440" y="3345420"/>
            <a:ext cx="292578" cy="32309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3660" y="2363933"/>
            <a:ext cx="2060242" cy="120094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5155" y="2321260"/>
            <a:ext cx="329151" cy="16642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90119" y="2376125"/>
            <a:ext cx="329151" cy="162768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35082" y="2412702"/>
            <a:ext cx="329151" cy="157281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67855" y="2412702"/>
            <a:ext cx="390105" cy="165816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25010" y="2437088"/>
            <a:ext cx="335246" cy="153623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769973" y="2479761"/>
            <a:ext cx="335246" cy="15179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14937" y="3253976"/>
            <a:ext cx="335246" cy="71935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14937" y="2668742"/>
            <a:ext cx="335246" cy="48159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59900" y="2687031"/>
            <a:ext cx="335246" cy="1298487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8196295" y="4203457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79" h="0">
                <a:moveTo>
                  <a:pt x="0" y="0"/>
                </a:moveTo>
                <a:lnTo>
                  <a:pt x="1630516" y="0"/>
                </a:lnTo>
              </a:path>
            </a:pathLst>
          </a:custGeom>
          <a:ln w="15240">
            <a:solidFill>
              <a:srgbClr val="77777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83054" y="5088929"/>
            <a:ext cx="79240" cy="60352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36587" y="5960684"/>
            <a:ext cx="91430" cy="59133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80046" y="4967005"/>
            <a:ext cx="262101" cy="1633777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10345" y="4826792"/>
            <a:ext cx="621730" cy="177399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0272" y="5113313"/>
            <a:ext cx="1852998" cy="148746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415373" y="5540047"/>
            <a:ext cx="91430" cy="105464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775001" y="6125281"/>
            <a:ext cx="85335" cy="475502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5136832" y="6139737"/>
            <a:ext cx="137160" cy="431165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5">
                <a:solidFill>
                  <a:srgbClr val="999999"/>
                </a:solidFill>
                <a:latin typeface="Cambria"/>
                <a:cs typeface="Cambria"/>
              </a:rPr>
              <a:t>Recur</a:t>
            </a:r>
            <a:r>
              <a:rPr dirty="0" sz="750" spc="-10">
                <a:solidFill>
                  <a:srgbClr val="999999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696969"/>
                </a:solidFill>
                <a:latin typeface="Cambria"/>
                <a:cs typeface="Cambria"/>
              </a:rPr>
              <a:t>ltd</a:t>
            </a:r>
            <a:r>
              <a:rPr dirty="0" sz="750" spc="95">
                <a:solidFill>
                  <a:srgbClr val="696969"/>
                </a:solidFill>
                <a:latin typeface="Cambria"/>
                <a:cs typeface="Cambria"/>
              </a:rPr>
              <a:t> </a:t>
            </a:r>
            <a:r>
              <a:rPr dirty="0" sz="750" spc="-60">
                <a:solidFill>
                  <a:srgbClr val="696969"/>
                </a:solidFill>
                <a:latin typeface="Cambria"/>
                <a:cs typeface="Cambria"/>
              </a:rPr>
              <a:t>6</a:t>
            </a:r>
            <a:endParaRPr sz="75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484332" y="6127898"/>
            <a:ext cx="144780" cy="485775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 spc="-75">
                <a:solidFill>
                  <a:srgbClr val="999999"/>
                </a:solidFill>
                <a:latin typeface="Cambria"/>
                <a:cs typeface="Cambria"/>
              </a:rPr>
              <a:t>Recur</a:t>
            </a:r>
            <a:r>
              <a:rPr dirty="0" sz="800" spc="-30">
                <a:solidFill>
                  <a:srgbClr val="999999"/>
                </a:solidFill>
                <a:latin typeface="Cambria"/>
                <a:cs typeface="Cambria"/>
              </a:rPr>
              <a:t> </a:t>
            </a:r>
            <a:r>
              <a:rPr dirty="0" sz="800">
                <a:solidFill>
                  <a:srgbClr val="939393"/>
                </a:solidFill>
                <a:latin typeface="Cambria"/>
                <a:cs typeface="Cambria"/>
              </a:rPr>
              <a:t>i</a:t>
            </a:r>
            <a:r>
              <a:rPr dirty="0" sz="800" spc="20">
                <a:solidFill>
                  <a:srgbClr val="939393"/>
                </a:solidFill>
                <a:latin typeface="Cambria"/>
                <a:cs typeface="Cambria"/>
              </a:rPr>
              <a:t> </a:t>
            </a:r>
            <a:r>
              <a:rPr dirty="0" sz="800" spc="-50">
                <a:solidFill>
                  <a:srgbClr val="9E9E9E"/>
                </a:solidFill>
                <a:latin typeface="Cambria"/>
                <a:cs typeface="Cambria"/>
              </a:rPr>
              <a:t>/</a:t>
            </a:r>
            <a:r>
              <a:rPr dirty="0" sz="800" spc="245">
                <a:solidFill>
                  <a:srgbClr val="9E9E9E"/>
                </a:solidFill>
                <a:latin typeface="Cambria"/>
                <a:cs typeface="Cambria"/>
              </a:rPr>
              <a:t> </a:t>
            </a:r>
            <a:r>
              <a:rPr dirty="0" sz="800" spc="-55">
                <a:solidFill>
                  <a:srgbClr val="9E9E9E"/>
                </a:solidFill>
                <a:latin typeface="Cambria"/>
                <a:cs typeface="Cambria"/>
              </a:rPr>
              <a:t>a</a:t>
            </a:r>
            <a:r>
              <a:rPr dirty="0" sz="800" spc="-55">
                <a:solidFill>
                  <a:srgbClr val="A3A3A3"/>
                </a:solidFill>
                <a:latin typeface="Cambria"/>
                <a:cs typeface="Cambria"/>
              </a:rPr>
              <a:t>0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649489" y="2101797"/>
            <a:ext cx="457154" cy="481598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45074" y="3229592"/>
            <a:ext cx="182861" cy="201174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94016" y="6430090"/>
            <a:ext cx="1048407" cy="7925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83232" y="4320809"/>
            <a:ext cx="384009" cy="67058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01517" y="4442733"/>
            <a:ext cx="362676" cy="97538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4179432" y="2699223"/>
            <a:ext cx="67310" cy="146685"/>
            <a:chOff x="4179432" y="2699223"/>
            <a:chExt cx="67310" cy="146685"/>
          </a:xfrm>
        </p:grpSpPr>
        <p:pic>
          <p:nvPicPr>
            <p:cNvPr id="32" name="object 3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91623" y="2699223"/>
              <a:ext cx="54858" cy="4267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179432" y="2772378"/>
              <a:ext cx="67049" cy="73154"/>
            </a:xfrm>
            <a:prstGeom prst="rect">
              <a:avLst/>
            </a:prstGeom>
          </p:spPr>
        </p:pic>
      </p:grpSp>
      <p:pic>
        <p:nvPicPr>
          <p:cNvPr id="34" name="object 3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404962" y="3973327"/>
            <a:ext cx="36572" cy="60961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8110960" y="1985970"/>
            <a:ext cx="1645920" cy="658495"/>
            <a:chOff x="8110960" y="1985970"/>
            <a:chExt cx="1645920" cy="658495"/>
          </a:xfrm>
        </p:grpSpPr>
        <p:pic>
          <p:nvPicPr>
            <p:cNvPr id="36" name="object 3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110960" y="1985970"/>
              <a:ext cx="1645756" cy="7925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110960" y="2565107"/>
              <a:ext cx="1633565" cy="7925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10960" y="2101797"/>
              <a:ext cx="1645756" cy="429781"/>
            </a:xfrm>
            <a:prstGeom prst="rect">
              <a:avLst/>
            </a:prstGeom>
          </p:spPr>
        </p:pic>
      </p:grpSp>
      <p:pic>
        <p:nvPicPr>
          <p:cNvPr id="39" name="object 39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179432" y="2979648"/>
            <a:ext cx="67049" cy="12192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775358" y="3851403"/>
            <a:ext cx="316960" cy="195077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667774" y="6430090"/>
            <a:ext cx="396200" cy="7925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179432" y="3412477"/>
            <a:ext cx="67049" cy="219462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624396" y="4101346"/>
            <a:ext cx="3297607" cy="85346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110960" y="3851403"/>
            <a:ext cx="207243" cy="195077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2378759" y="886370"/>
            <a:ext cx="582930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95755">
              <a:lnSpc>
                <a:spcPct val="100000"/>
              </a:lnSpc>
              <a:spcBef>
                <a:spcPts val="100"/>
              </a:spcBef>
            </a:pPr>
            <a:r>
              <a:rPr dirty="0" sz="1550" spc="-30">
                <a:latin typeface="Calibri"/>
                <a:cs typeface="Calibri"/>
              </a:rPr>
              <a:t>Vendor</a:t>
            </a:r>
            <a:r>
              <a:rPr dirty="0" sz="1550" spc="-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&amp;</a:t>
            </a:r>
            <a:r>
              <a:rPr dirty="0" sz="1550" spc="-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Country</a:t>
            </a:r>
            <a:r>
              <a:rPr dirty="0" sz="1550" spc="-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Performance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Insights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1350">
                <a:solidFill>
                  <a:srgbClr val="D85D60"/>
                </a:solidFill>
                <a:latin typeface="Calibri"/>
                <a:cs typeface="Calibri"/>
              </a:rPr>
              <a:t>Comparative</a:t>
            </a:r>
            <a:r>
              <a:rPr dirty="0" sz="1350" spc="114">
                <a:solidFill>
                  <a:srgbClr val="D85D60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35457"/>
                </a:solidFill>
                <a:latin typeface="Calibri"/>
                <a:cs typeface="Calibri"/>
              </a:rPr>
              <a:t>analysis</a:t>
            </a:r>
            <a:r>
              <a:rPr dirty="0" sz="1350" spc="-15">
                <a:solidFill>
                  <a:srgbClr val="D3545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3596B"/>
                </a:solidFill>
                <a:latin typeface="Calibri"/>
                <a:cs typeface="Calibri"/>
              </a:rPr>
              <a:t>of</a:t>
            </a:r>
            <a:r>
              <a:rPr dirty="0" sz="1350" spc="25">
                <a:solidFill>
                  <a:srgbClr val="D3596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8E9A"/>
                </a:solidFill>
                <a:latin typeface="Calibri"/>
                <a:cs typeface="Calibri"/>
              </a:rPr>
              <a:t>vendor</a:t>
            </a:r>
            <a:r>
              <a:rPr dirty="0" sz="1350" spc="40">
                <a:solidFill>
                  <a:srgbClr val="FF8E9A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15D6E"/>
                </a:solidFill>
                <a:latin typeface="Calibri"/>
                <a:cs typeface="Calibri"/>
              </a:rPr>
              <a:t>behavior,</a:t>
            </a:r>
            <a:r>
              <a:rPr dirty="0" sz="1350" spc="80">
                <a:solidFill>
                  <a:srgbClr val="D15D6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BC6475"/>
                </a:solidFill>
                <a:latin typeface="Calibri"/>
                <a:cs typeface="Calibri"/>
              </a:rPr>
              <a:t>rating</a:t>
            </a:r>
            <a:r>
              <a:rPr dirty="0" sz="1350" spc="15">
                <a:solidFill>
                  <a:srgbClr val="BC6475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E84D57"/>
                </a:solidFill>
                <a:latin typeface="Calibri"/>
                <a:cs typeface="Calibri"/>
              </a:rPr>
              <a:t>distribution,</a:t>
            </a:r>
            <a:r>
              <a:rPr dirty="0" sz="1350" spc="95">
                <a:solidFill>
                  <a:srgbClr val="E84D57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D65B72"/>
                </a:solidFill>
                <a:latin typeface="Calibri"/>
                <a:cs typeface="Calibri"/>
              </a:rPr>
              <a:t>and</a:t>
            </a:r>
            <a:r>
              <a:rPr dirty="0" sz="1350" spc="-15">
                <a:solidFill>
                  <a:srgbClr val="D65B72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C15D67"/>
                </a:solidFill>
                <a:latin typeface="Calibri"/>
                <a:cs typeface="Calibri"/>
              </a:rPr>
              <a:t>regional</a:t>
            </a:r>
            <a:r>
              <a:rPr dirty="0" sz="1350" spc="60">
                <a:solidFill>
                  <a:srgbClr val="C15D67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CF5669"/>
                </a:solidFill>
                <a:latin typeface="Calibri"/>
                <a:cs typeface="Calibri"/>
              </a:rPr>
              <a:t>trends.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568372" y="1823404"/>
            <a:ext cx="1404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Country</a:t>
            </a:r>
            <a:r>
              <a:rPr dirty="0" sz="1300" spc="-7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Comparison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54301" y="4124716"/>
            <a:ext cx="11734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A7A7"/>
                </a:solidFill>
                <a:latin typeface="Calibri"/>
                <a:cs typeface="Calibri"/>
              </a:rPr>
              <a:t>a</a:t>
            </a:r>
            <a:r>
              <a:rPr dirty="0" sz="700" spc="190">
                <a:solidFill>
                  <a:srgbClr val="A7A7A7"/>
                </a:solidFill>
                <a:latin typeface="Calibri"/>
                <a:cs typeface="Calibri"/>
              </a:rPr>
              <a:t>  </a:t>
            </a:r>
            <a:r>
              <a:rPr dirty="0" sz="700">
                <a:solidFill>
                  <a:srgbClr val="5D5D5D"/>
                </a:solidFill>
                <a:latin typeface="Calibri"/>
                <a:cs typeface="Calibri"/>
              </a:rPr>
              <a:t>z02s</a:t>
            </a:r>
            <a:r>
              <a:rPr dirty="0" sz="700" spc="-25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700" spc="-70">
                <a:solidFill>
                  <a:srgbClr val="5B5B5B"/>
                </a:solidFill>
                <a:latin typeface="Calibri"/>
                <a:cs typeface="Calibri"/>
              </a:rPr>
              <a:t>t'aapbox</a:t>
            </a:r>
            <a:r>
              <a:rPr dirty="0" sz="700" spc="-3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700" spc="-65">
                <a:solidFill>
                  <a:srgbClr val="A0A0A0"/>
                </a:solidFill>
                <a:latin typeface="Calibri"/>
                <a:cs typeface="Calibri"/>
              </a:rPr>
              <a:t>ID</a:t>
            </a:r>
            <a:r>
              <a:rPr dirty="0" sz="700">
                <a:solidFill>
                  <a:srgbClr val="A0A0A0"/>
                </a:solidFill>
                <a:latin typeface="Calibri"/>
                <a:cs typeface="Calibri"/>
              </a:rPr>
              <a:t> </a:t>
            </a:r>
            <a:r>
              <a:rPr dirty="0" sz="700" spc="-50">
                <a:solidFill>
                  <a:srgbClr val="676767"/>
                </a:solidFill>
                <a:latin typeface="Calibri"/>
                <a:cs typeface="Calibri"/>
              </a:rPr>
              <a:t>OpenSoeetMap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35503" y="4673118"/>
            <a:ext cx="1746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707070"/>
                </a:solidFill>
                <a:latin typeface="Calibri"/>
                <a:cs typeface="Calibri"/>
              </a:rPr>
              <a:t>120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35503" y="4941351"/>
            <a:ext cx="180340" cy="688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626262"/>
                </a:solidFill>
                <a:latin typeface="Calibri"/>
                <a:cs typeface="Calibri"/>
              </a:rPr>
              <a:t>100</a:t>
            </a:r>
            <a:endParaRPr sz="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750">
              <a:latin typeface="Calibri"/>
              <a:cs typeface="Calibri"/>
            </a:endParaRPr>
          </a:p>
          <a:p>
            <a:pPr marL="57150">
              <a:lnSpc>
                <a:spcPct val="100000"/>
              </a:lnSpc>
              <a:spcBef>
                <a:spcPts val="5"/>
              </a:spcBef>
            </a:pPr>
            <a:r>
              <a:rPr dirty="0" sz="850" spc="-60">
                <a:solidFill>
                  <a:srgbClr val="808080"/>
                </a:solidFill>
                <a:latin typeface="Courier New"/>
                <a:cs typeface="Courier New"/>
              </a:rPr>
              <a:t>00</a:t>
            </a:r>
            <a:endParaRPr sz="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85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</a:pPr>
            <a:r>
              <a:rPr dirty="0" sz="750" spc="-25">
                <a:solidFill>
                  <a:srgbClr val="9A9A9A"/>
                </a:solidFill>
                <a:latin typeface="Consolas"/>
                <a:cs typeface="Consolas"/>
              </a:rPr>
              <a:t>60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580708" y="4202269"/>
            <a:ext cx="1054735" cy="49657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250">
                <a:latin typeface="Calibri"/>
                <a:cs typeface="Calibri"/>
              </a:rPr>
              <a:t>Outlier</a:t>
            </a:r>
            <a:r>
              <a:rPr dirty="0" sz="1250" spc="-25"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81818"/>
                </a:solidFill>
                <a:latin typeface="Calibri"/>
                <a:cs typeface="Calibri"/>
              </a:rPr>
              <a:t>Severity</a:t>
            </a:r>
            <a:endParaRPr sz="1250">
              <a:latin typeface="Calibri"/>
              <a:cs typeface="Calibri"/>
            </a:endParaRPr>
          </a:p>
          <a:p>
            <a:pPr marL="474980">
              <a:lnSpc>
                <a:spcPct val="100000"/>
              </a:lnSpc>
              <a:spcBef>
                <a:spcPts val="484"/>
              </a:spcBef>
            </a:pPr>
            <a:r>
              <a:rPr dirty="0" sz="800" spc="-10">
                <a:solidFill>
                  <a:srgbClr val="313131"/>
                </a:solidFill>
                <a:latin typeface="Calibri"/>
                <a:cs typeface="Calibri"/>
              </a:rPr>
              <a:t>Rating</a:t>
            </a:r>
            <a:r>
              <a:rPr dirty="0" sz="800" spc="-1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61616"/>
                </a:solidFill>
                <a:latin typeface="Calibri"/>
                <a:cs typeface="Calibri"/>
              </a:rPr>
              <a:t>Type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2694673" y="2313893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79ACBA"/>
                </a:solidFill>
                <a:latin typeface="Arial MT"/>
                <a:cs typeface="Arial MT"/>
              </a:rPr>
              <a:t>g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094083" y="2313893"/>
            <a:ext cx="7131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0">
                <a:solidFill>
                  <a:srgbClr val="363636"/>
                </a:solidFill>
                <a:latin typeface="Arial MT"/>
                <a:cs typeface="Arial MT"/>
              </a:rPr>
              <a:t>Avg.</a:t>
            </a:r>
            <a:r>
              <a:rPr dirty="0" sz="750" spc="-2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2D2D2D"/>
                </a:solidFill>
                <a:latin typeface="Arial MT"/>
                <a:cs typeface="Arial MT"/>
              </a:rPr>
              <a:t>Rating</a:t>
            </a:r>
            <a:r>
              <a:rPr dirty="0" sz="750" spc="-25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3D3D3D"/>
                </a:solidFill>
                <a:latin typeface="Arial MT"/>
                <a:cs typeface="Arial MT"/>
              </a:rPr>
              <a:t>Score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625624" y="2472395"/>
            <a:ext cx="596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757575"/>
                </a:solidFill>
                <a:latin typeface="Arial MT"/>
                <a:cs typeface="Arial MT"/>
              </a:rPr>
              <a:t>•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4284365" y="2472395"/>
            <a:ext cx="1701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7E7E7E"/>
                </a:solidFill>
                <a:latin typeface="Arial MT"/>
                <a:cs typeface="Arial MT"/>
              </a:rPr>
              <a:t>100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792439" y="4520967"/>
            <a:ext cx="723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8C8C8C"/>
                </a:solidFill>
                <a:latin typeface="Consolas"/>
                <a:cs typeface="Consolas"/>
              </a:rPr>
              <a:t>O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037359" y="4520967"/>
            <a:ext cx="12700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565656"/>
                </a:solidFill>
                <a:latin typeface="Consolas"/>
                <a:cs typeface="Consolas"/>
              </a:rPr>
              <a:t>lg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159540" y="2844008"/>
            <a:ext cx="2984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363636"/>
                </a:solidFill>
                <a:latin typeface="Courier New"/>
                <a:cs typeface="Courier New"/>
              </a:rPr>
              <a:t>o</a:t>
            </a:r>
            <a:r>
              <a:rPr dirty="0" sz="800" spc="35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800" spc="-80">
                <a:solidFill>
                  <a:srgbClr val="808080"/>
                </a:solidFill>
                <a:latin typeface="Courier New"/>
                <a:cs typeface="Courier New"/>
              </a:rPr>
              <a:t>200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4290140" y="3241022"/>
            <a:ext cx="16065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25">
                <a:solidFill>
                  <a:srgbClr val="797979"/>
                </a:solidFill>
                <a:latin typeface="Calibri"/>
                <a:cs typeface="Calibri"/>
              </a:rPr>
              <a:t>20Q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4288876" y="3612635"/>
            <a:ext cx="1663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6D6D6D"/>
                </a:solidFill>
                <a:latin typeface="Consolas"/>
                <a:cs typeface="Consolas"/>
              </a:rPr>
              <a:t>100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4396987" y="4679468"/>
            <a:ext cx="13398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95">
                <a:solidFill>
                  <a:srgbClr val="797979"/>
                </a:solidFill>
                <a:latin typeface="Consolas"/>
                <a:cs typeface="Consolas"/>
              </a:rPr>
              <a:t>IC'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5188108" y="1841947"/>
            <a:ext cx="1771014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5">
                <a:solidFill>
                  <a:srgbClr val="161616"/>
                </a:solidFill>
                <a:latin typeface="Calibri"/>
                <a:cs typeface="Calibri"/>
              </a:rPr>
              <a:t>Vendor</a:t>
            </a:r>
            <a:r>
              <a:rPr dirty="0" sz="1250" spc="1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1313"/>
                </a:solidFill>
                <a:latin typeface="Calibri"/>
                <a:cs typeface="Calibri"/>
              </a:rPr>
              <a:t>Rating</a:t>
            </a:r>
            <a:r>
              <a:rPr dirty="0" sz="1250" spc="12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D1D1D"/>
                </a:solidFill>
                <a:latin typeface="Calibri"/>
                <a:cs typeface="Calibri"/>
              </a:rPr>
              <a:t>Distribution</a:t>
            </a:r>
            <a:endParaRPr sz="1250">
              <a:latin typeface="Calibri"/>
              <a:cs typeface="Calibri"/>
            </a:endParaRPr>
          </a:p>
          <a:p>
            <a:pPr marL="817880">
              <a:lnSpc>
                <a:spcPct val="100000"/>
              </a:lnSpc>
              <a:spcBef>
                <a:spcPts val="535"/>
              </a:spcBef>
            </a:pPr>
            <a:r>
              <a:rPr dirty="0" sz="750" spc="-20">
                <a:solidFill>
                  <a:srgbClr val="282828"/>
                </a:solidFill>
                <a:latin typeface="Calibri"/>
                <a:cs typeface="Calibri"/>
              </a:rPr>
              <a:t>Vendor</a:t>
            </a:r>
            <a:r>
              <a:rPr dirty="0" sz="750" spc="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2D2D2D"/>
                </a:solidFill>
                <a:latin typeface="Calibri"/>
                <a:cs typeface="Calibri"/>
              </a:rPr>
              <a:t>Name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6676824" y="4193231"/>
            <a:ext cx="875665" cy="50419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300" spc="-85">
                <a:solidFill>
                  <a:srgbClr val="1D1D1D"/>
                </a:solidFill>
                <a:latin typeface="Calibri"/>
                <a:cs typeface="Calibri"/>
              </a:rPr>
              <a:t>Top</a:t>
            </a:r>
            <a:r>
              <a:rPr dirty="0" sz="1300" spc="-2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A1A1A"/>
                </a:solidFill>
                <a:latin typeface="Calibri"/>
                <a:cs typeface="Calibri"/>
              </a:rPr>
              <a:t>Outliers</a:t>
            </a:r>
            <a:endParaRPr sz="1300">
              <a:latin typeface="Calibri"/>
              <a:cs typeface="Calibri"/>
            </a:endParaRPr>
          </a:p>
          <a:p>
            <a:pPr marL="284480">
              <a:lnSpc>
                <a:spcPct val="100000"/>
              </a:lnSpc>
              <a:spcBef>
                <a:spcPts val="480"/>
              </a:spcBef>
            </a:pPr>
            <a:r>
              <a:rPr dirty="0" sz="750">
                <a:solidFill>
                  <a:srgbClr val="2B2B2B"/>
                </a:solidFill>
                <a:latin typeface="Calibri"/>
                <a:cs typeface="Calibri"/>
              </a:rPr>
              <a:t>Security</a:t>
            </a:r>
            <a:r>
              <a:rPr dirty="0" sz="7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232323"/>
                </a:solidFill>
                <a:latin typeface="Calibri"/>
                <a:cs typeface="Calibri"/>
              </a:rPr>
              <a:t>Name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8076451" y="1819848"/>
            <a:ext cx="6673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2B2B2B"/>
                </a:solidFill>
                <a:latin typeface="Calibri"/>
                <a:cs typeface="Calibri"/>
              </a:rPr>
              <a:t>Standard</a:t>
            </a:r>
            <a:r>
              <a:rPr dirty="0" sz="80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343434"/>
                </a:solidFill>
                <a:latin typeface="Calibri"/>
                <a:cs typeface="Calibri"/>
              </a:rPr>
              <a:t>Ratlng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419056" y="2643088"/>
            <a:ext cx="2019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ED8A24"/>
                </a:solidFill>
                <a:latin typeface="Calibri"/>
                <a:cs typeface="Calibri"/>
              </a:rPr>
              <a:t>M</a:t>
            </a:r>
            <a:r>
              <a:rPr dirty="0" sz="750" spc="95">
                <a:solidFill>
                  <a:srgbClr val="ED8A24"/>
                </a:solidFill>
                <a:latin typeface="Calibri"/>
                <a:cs typeface="Calibri"/>
              </a:rPr>
              <a:t> </a:t>
            </a:r>
            <a:r>
              <a:rPr dirty="0" sz="750" spc="-50">
                <a:solidFill>
                  <a:srgbClr val="A3A3A3"/>
                </a:solidFill>
                <a:latin typeface="Calibri"/>
                <a:cs typeface="Calibri"/>
              </a:rPr>
              <a:t>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8058197" y="2628119"/>
            <a:ext cx="336550" cy="1086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215"/>
              </a:spcBef>
            </a:pPr>
            <a:r>
              <a:rPr dirty="0" sz="750">
                <a:solidFill>
                  <a:srgbClr val="B69128"/>
                </a:solidFill>
                <a:latin typeface="Calibri"/>
                <a:cs typeface="Calibri"/>
              </a:rPr>
              <a:t>M</a:t>
            </a:r>
            <a:r>
              <a:rPr dirty="0" sz="750" spc="50">
                <a:solidFill>
                  <a:srgbClr val="B69128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646464"/>
                </a:solidFill>
                <a:latin typeface="Calibri"/>
                <a:cs typeface="Calibri"/>
              </a:rPr>
              <a:t>A-</a:t>
            </a:r>
            <a:endParaRPr sz="750">
              <a:latin typeface="Calibri"/>
              <a:cs typeface="Calibri"/>
            </a:endParaRPr>
          </a:p>
          <a:p>
            <a:pPr marL="12700" marR="5080" indent="148590">
              <a:lnSpc>
                <a:spcPct val="102299"/>
              </a:lnSpc>
              <a:spcBef>
                <a:spcPts val="90"/>
              </a:spcBef>
              <a:buClr>
                <a:srgbClr val="F4C660"/>
              </a:buClr>
              <a:buFont typeface="Arial MT"/>
              <a:buChar char="■"/>
              <a:tabLst>
                <a:tab pos="161290" algn="l"/>
              </a:tabLst>
            </a:pPr>
            <a:r>
              <a:rPr dirty="0" sz="700" spc="-25">
                <a:solidFill>
                  <a:srgbClr val="626262"/>
                </a:solidFill>
                <a:latin typeface="Calibri"/>
                <a:cs typeface="Calibri"/>
              </a:rPr>
              <a:t>A+</a:t>
            </a:r>
            <a:r>
              <a:rPr dirty="0" sz="700" spc="7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dirty="0" sz="750" spc="70">
                <a:solidFill>
                  <a:srgbClr val="429A93"/>
                </a:solidFill>
                <a:latin typeface="Calibri"/>
                <a:cs typeface="Calibri"/>
              </a:rPr>
              <a:t>M</a:t>
            </a:r>
            <a:r>
              <a:rPr dirty="0" sz="750" spc="30">
                <a:solidFill>
                  <a:srgbClr val="429A93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808080"/>
                </a:solidFill>
                <a:latin typeface="Calibri"/>
                <a:cs typeface="Calibri"/>
              </a:rPr>
              <a:t>AA</a:t>
            </a:r>
            <a:r>
              <a:rPr dirty="0" sz="750" spc="50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87C6B8"/>
                </a:solidFill>
                <a:latin typeface="Calibri"/>
                <a:cs typeface="Calibri"/>
              </a:rPr>
              <a:t>M</a:t>
            </a:r>
            <a:r>
              <a:rPr dirty="0" sz="750" spc="100">
                <a:solidFill>
                  <a:srgbClr val="87C6B8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313131"/>
                </a:solidFill>
                <a:latin typeface="Calibri"/>
                <a:cs typeface="Calibri"/>
              </a:rPr>
              <a:t>AA1</a:t>
            </a:r>
            <a:r>
              <a:rPr dirty="0" sz="750" spc="5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04F4B"/>
                </a:solidFill>
                <a:latin typeface="Calibri"/>
                <a:cs typeface="Calibri"/>
              </a:rPr>
              <a:t>M</a:t>
            </a:r>
            <a:r>
              <a:rPr dirty="0" sz="700" spc="95">
                <a:solidFill>
                  <a:srgbClr val="F04F4B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5B5B5B"/>
                </a:solidFill>
                <a:latin typeface="Calibri"/>
                <a:cs typeface="Calibri"/>
              </a:rPr>
              <a:t>AAZ</a:t>
            </a:r>
            <a:r>
              <a:rPr dirty="0" sz="700" spc="50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A393"/>
                </a:solidFill>
                <a:latin typeface="Calibri"/>
                <a:cs typeface="Calibri"/>
              </a:rPr>
              <a:t>B</a:t>
            </a:r>
            <a:r>
              <a:rPr dirty="0" sz="800" spc="190">
                <a:solidFill>
                  <a:srgbClr val="FFA393"/>
                </a:solidFill>
                <a:latin typeface="Calibri"/>
                <a:cs typeface="Calibri"/>
              </a:rPr>
              <a:t>  </a:t>
            </a:r>
            <a:r>
              <a:rPr dirty="0" sz="800" spc="-35" i="1">
                <a:solidFill>
                  <a:srgbClr val="464646"/>
                </a:solidFill>
                <a:latin typeface="Calibri"/>
                <a:cs typeface="Calibri"/>
              </a:rPr>
              <a:t>AA3</a:t>
            </a:r>
            <a:r>
              <a:rPr dirty="0" sz="800" spc="500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707070"/>
                </a:solidFill>
                <a:latin typeface="Calibri"/>
                <a:cs typeface="Calibri"/>
              </a:rPr>
              <a:t>M</a:t>
            </a:r>
            <a:r>
              <a:rPr dirty="0" sz="750" spc="55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626262"/>
                </a:solidFill>
                <a:latin typeface="Calibri"/>
                <a:cs typeface="Calibri"/>
              </a:rPr>
              <a:t>AA-</a:t>
            </a:r>
            <a:r>
              <a:rPr dirty="0" sz="750" spc="55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dirty="0" sz="750" spc="55">
                <a:solidFill>
                  <a:srgbClr val="AFAFAF"/>
                </a:solidFill>
                <a:latin typeface="Calibri"/>
                <a:cs typeface="Calibri"/>
              </a:rPr>
              <a:t>M</a:t>
            </a:r>
            <a:r>
              <a:rPr dirty="0" sz="750" spc="45">
                <a:solidFill>
                  <a:srgbClr val="AFAFAF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313131"/>
                </a:solidFill>
                <a:latin typeface="Calibri"/>
                <a:cs typeface="Calibri"/>
              </a:rPr>
              <a:t>AA+</a:t>
            </a:r>
            <a:r>
              <a:rPr dirty="0" sz="750" spc="5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D66289"/>
                </a:solidFill>
                <a:latin typeface="Calibri"/>
                <a:cs typeface="Calibri"/>
              </a:rPr>
              <a:t>M</a:t>
            </a:r>
            <a:r>
              <a:rPr dirty="0" sz="700" spc="145">
                <a:solidFill>
                  <a:srgbClr val="D66289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3B3B3B"/>
                </a:solidFill>
                <a:latin typeface="Calibri"/>
                <a:cs typeface="Calibri"/>
              </a:rPr>
              <a:t>AAA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8751545" y="2628119"/>
            <a:ext cx="361315" cy="10864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15240">
              <a:lnSpc>
                <a:spcPct val="100000"/>
              </a:lnSpc>
              <a:spcBef>
                <a:spcPts val="215"/>
              </a:spcBef>
            </a:pPr>
            <a:r>
              <a:rPr dirty="0" sz="750">
                <a:solidFill>
                  <a:srgbClr val="549E4D"/>
                </a:solidFill>
                <a:latin typeface="Calibri"/>
                <a:cs typeface="Calibri"/>
              </a:rPr>
              <a:t>M</a:t>
            </a:r>
            <a:r>
              <a:rPr dirty="0" sz="750" spc="50">
                <a:solidFill>
                  <a:srgbClr val="549E4D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444444"/>
                </a:solidFill>
                <a:latin typeface="Calibri"/>
                <a:cs typeface="Calibri"/>
              </a:rPr>
              <a:t>BAA1</a:t>
            </a:r>
            <a:endParaRPr sz="750">
              <a:latin typeface="Calibri"/>
              <a:cs typeface="Calibri"/>
            </a:endParaRPr>
          </a:p>
          <a:p>
            <a:pPr algn="just" marL="15240" marR="8890" indent="-3175">
              <a:lnSpc>
                <a:spcPct val="102000"/>
              </a:lnSpc>
              <a:spcBef>
                <a:spcPts val="95"/>
              </a:spcBef>
              <a:buClr>
                <a:srgbClr val="8AD177"/>
              </a:buClr>
              <a:buFont typeface="Arial MT"/>
              <a:buChar char="■"/>
              <a:tabLst>
                <a:tab pos="15240" algn="l"/>
                <a:tab pos="126364" algn="l"/>
              </a:tabLst>
            </a:pPr>
            <a:r>
              <a:rPr dirty="0" sz="700" spc="-20">
                <a:solidFill>
                  <a:srgbClr val="707070"/>
                </a:solidFill>
                <a:latin typeface="Calibri"/>
                <a:cs typeface="Calibri"/>
              </a:rPr>
              <a:t>	</a:t>
            </a:r>
            <a:r>
              <a:rPr dirty="0" sz="700" spc="-20">
                <a:solidFill>
                  <a:srgbClr val="707070"/>
                </a:solidFill>
                <a:latin typeface="Calibri"/>
                <a:cs typeface="Calibri"/>
              </a:rPr>
              <a:t>BAA2</a:t>
            </a:r>
            <a:r>
              <a:rPr dirty="0" sz="700" spc="500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B8952D"/>
                </a:solidFill>
                <a:latin typeface="Calibri"/>
                <a:cs typeface="Calibri"/>
              </a:rPr>
              <a:t>M</a:t>
            </a:r>
            <a:r>
              <a:rPr dirty="0" sz="750" spc="50">
                <a:solidFill>
                  <a:srgbClr val="B8952D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525252"/>
                </a:solidFill>
                <a:latin typeface="Calibri"/>
                <a:cs typeface="Calibri"/>
              </a:rPr>
              <a:t>BAA3</a:t>
            </a:r>
            <a:r>
              <a:rPr dirty="0" sz="750" spc="50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F6C466"/>
                </a:solidFill>
                <a:latin typeface="Calibri"/>
                <a:cs typeface="Calibri"/>
              </a:rPr>
              <a:t>M</a:t>
            </a:r>
            <a:r>
              <a:rPr dirty="0" sz="750" spc="45">
                <a:solidFill>
                  <a:srgbClr val="F6C466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424242"/>
                </a:solidFill>
                <a:latin typeface="Calibri"/>
                <a:cs typeface="Calibri"/>
              </a:rPr>
              <a:t>BB</a:t>
            </a:r>
            <a:endParaRPr sz="750">
              <a:latin typeface="Calibri"/>
              <a:cs typeface="Calibri"/>
            </a:endParaRPr>
          </a:p>
          <a:p>
            <a:pPr algn="just" marL="15240" marR="5080" indent="635">
              <a:lnSpc>
                <a:spcPct val="101299"/>
              </a:lnSpc>
              <a:spcBef>
                <a:spcPts val="50"/>
              </a:spcBef>
            </a:pPr>
            <a:r>
              <a:rPr dirty="0" sz="700" spc="50">
                <a:solidFill>
                  <a:srgbClr val="449A97"/>
                </a:solidFill>
                <a:latin typeface="Calibri"/>
                <a:cs typeface="Calibri"/>
              </a:rPr>
              <a:t>M</a:t>
            </a:r>
            <a:r>
              <a:rPr dirty="0" sz="700" spc="45">
                <a:solidFill>
                  <a:srgbClr val="449A97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4B4B4B"/>
                </a:solidFill>
                <a:latin typeface="Calibri"/>
                <a:cs typeface="Calibri"/>
              </a:rPr>
              <a:t>BB-</a:t>
            </a:r>
            <a:r>
              <a:rPr dirty="0" sz="700" spc="50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85BAB5"/>
                </a:solidFill>
                <a:latin typeface="Calibri"/>
                <a:cs typeface="Calibri"/>
              </a:rPr>
              <a:t>M</a:t>
            </a:r>
            <a:r>
              <a:rPr dirty="0" sz="800" spc="-15">
                <a:solidFill>
                  <a:srgbClr val="85BAB5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3A3A3A"/>
                </a:solidFill>
                <a:latin typeface="Calibri"/>
                <a:cs typeface="Calibri"/>
              </a:rPr>
              <a:t>BB+</a:t>
            </a:r>
            <a:r>
              <a:rPr dirty="0" sz="800" spc="50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DF565D"/>
                </a:solidFill>
                <a:latin typeface="Calibri"/>
                <a:cs typeface="Calibri"/>
              </a:rPr>
              <a:t>M</a:t>
            </a:r>
            <a:r>
              <a:rPr dirty="0" sz="750" spc="50">
                <a:solidFill>
                  <a:srgbClr val="DF565D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383838"/>
                </a:solidFill>
                <a:latin typeface="Calibri"/>
                <a:cs typeface="Calibri"/>
              </a:rPr>
              <a:t>BBB</a:t>
            </a:r>
            <a:r>
              <a:rPr dirty="0" sz="750" spc="5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FF9A99"/>
                </a:solidFill>
                <a:latin typeface="Calibri"/>
                <a:cs typeface="Calibri"/>
              </a:rPr>
              <a:t>M</a:t>
            </a:r>
            <a:r>
              <a:rPr dirty="0" sz="750" spc="50">
                <a:solidFill>
                  <a:srgbClr val="FF9A99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414141"/>
                </a:solidFill>
                <a:latin typeface="Calibri"/>
                <a:cs typeface="Calibri"/>
              </a:rPr>
              <a:t>BBB-</a:t>
            </a:r>
            <a:r>
              <a:rPr dirty="0" sz="750" spc="50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6E6E6E"/>
                </a:solidFill>
                <a:latin typeface="Calibri"/>
                <a:cs typeface="Calibri"/>
              </a:rPr>
              <a:t>M</a:t>
            </a:r>
            <a:r>
              <a:rPr dirty="0" sz="700" spc="10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700" spc="45">
                <a:solidFill>
                  <a:srgbClr val="727272"/>
                </a:solidFill>
                <a:latin typeface="Calibri"/>
                <a:cs typeface="Calibri"/>
              </a:rPr>
              <a:t>BBB+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2025-11-09T19:11:38Z</dcterms:created>
  <dcterms:modified xsi:type="dcterms:W3CDTF">2025-11-09T19:11:38Z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LastSaved">
    <vt:filetime>2025-11-09T00:00:00Z</vt:filetime>
  </property>
  <property fmtid="{D5CDD505-2E9C-101B-9397-08002B2CF9AE}" pid="4" name="Producer">
    <vt:lpwstr>iLovePDF</vt:lpwstr>
  </property>
</Properties>
</file>